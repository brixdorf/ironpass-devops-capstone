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 am Romit and this is IronPass, a gym membership app. I used it to learn how one app travels from my laptop to a monitored Kubernetes cluster on AWS. The seven colours at the bottom are the stages you will see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gym front desk needs to know quickly who may come in. IronPass lets staff sign members up and check them in. If a member's plan has expired, the API refuses the check-in, and you can see that message on the screen. The page also works on a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Python with FastAPI, the frontend is React, and the data lives in PostgreSQL. Docker packs them into containers. Terraform builds the cloud, GitHub Actions is the pipeline, and Prometheus with Grafana watch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AWS picture. One network with two public and two private subnets, and an EKS cluster with two worker nodes in the private ones. Traffic comes in through a load balancer to Traefik, which sends it to the frontend and backend pods.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docker compose up starts three containers. The database has a health check, and the backend and frontend wait until the one before them is healthy. I started it three times from clean and each time everything came up healthy, and a record I created was still there after a restart.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thirty two tests and they all pass. They check real things like a wrong plan type returning an error, a missing member returning not found, and the rule that an expired plan cannot check in. The tests use a throwaway SQLite database, so real data is never touched.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lives in a public GitHub repository. I made many small commits, each with a plain message, so every change is easy to find. Passwords and keys are never stored in git.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push to main starts this pipeline. It runs the tests, builds each image once, scans that same image with Trivy, pushes it and tries it on a temporary cluster before deploying to EKS. Terraform, the purple bar, builds the cloud before the first deploy.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both images for known security problems. On the left I added an old library on purpose in a throwaway branch, and the pipeline stopped. On the right is the real result, where both images are clean.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images go to the GitHub Container Registry. Each one is tagged with the commit hash, so I can trace any running pod back to the exact code. The pipeline uses the built in token, so there are no stored passwords.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builds everything on AWS from code, so nobody clicks in the console. The plan shows sixty two resources, including the network, the EKS cluster and the sign in for GitHub. The nodes are c7i flex large because this free plan account refuses t3 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Helm installs the app on Kubernetes. There are two copies of the backend, two of the frontend and one database pod, each behind its own service. If a release goes wrong, helm rollback puts the old version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Ingress is the front door. Slash goes to the frontend and slash api goes to the backend, all on one load balancer address. I use Traefik because the Kubernetes project retired ingress-nginx, and I moved the live cluster over without a break.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has a horizontal pod autoscaler. When my load script pushed the CPU over fifty percent, it grew the backend from two pods to six, and it shrinks again when the load stops. It needs resource requests and metrics server to do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exposes a metrics page. Prometheus collects it, and Grafana draws the request rate, the latency, the errors and the number of pods. The dashboard is stored as code in the Helm chart, so it appears by itself when the app is deployed.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broke three deployments on purpose and fixed them. One had an image tag that does not exist, one had a label typo so the service found no pods, and one crashed because a setting was missing. For each I used kubectl get, describe, events and logs, then fixed the file and applied it again.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looked at four ways to run the app. Compose alone and a single server are simple but cannot scale or heal themselves. A managed container service does, but only on one cloud. Kubernetes does all of it on any cloud, and the price is that it is harder to learn.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numbers from the project. Thirty two tests pass, the API has fifteen endpoints, and the whole pipeline takes about four minutes. Both images are clean in Trivy, the backend scales from two to six pods, and the images are small.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biggest lesson is that every tool has one job, and the pipeline joins them together. Pinning versions and scanning images catches problems early. Small commits make problems easy to find, and breaking things on purpose is the fastest way to learn how to fix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watching. The code, the screenshots and the documentation are all in the GitHub repository, and you can reach it with the QR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image" Target="../media/image28.png"/><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7.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4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3.png"/><Relationship Id="rId4" Type="http://schemas.openxmlformats.org/officeDocument/2006/relationships/image" Target="../media/image45.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6.png"/><Relationship Id="rId12" Type="http://schemas.openxmlformats.org/officeDocument/2006/relationships/image" Target="../media/image7.png"/><Relationship Id="rId13" Type="http://schemas.openxmlformats.org/officeDocument/2006/relationships/image" Target="../media/image8.png"/><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417320"/>
            <a:ext cx="8686800" cy="365760"/>
          </a:xfrm>
          <a:prstGeom prst="rect">
            <a:avLst/>
          </a:prstGeom>
          <a:noFill/>
        </p:spPr>
        <p:txBody>
          <a:bodyPr wrap="square" anchor="t" lIns="0" rIns="0" tIns="0" bIns="0">
            <a:spAutoFit/>
          </a:bodyPr>
          <a:lstStyle/>
          <a:p>
            <a:pPr algn="l">
              <a:lnSpc>
                <a:spcPct val="110000"/>
              </a:lnSpc>
            </a:pPr>
            <a:r>
              <a:rPr sz="2000" b="1">
                <a:solidFill>
                  <a:srgbClr val="22D3EE"/>
                </a:solidFill>
                <a:latin typeface="DM Sans"/>
              </a:rPr>
              <a:t>DEVOPS FINAL CAPSTONE</a:t>
            </a:r>
          </a:p>
        </p:txBody>
      </p:sp>
      <p:sp>
        <p:nvSpPr>
          <p:cNvPr id="4" name="TextBox 3"/>
          <p:cNvSpPr txBox="1"/>
          <p:nvPr/>
        </p:nvSpPr>
        <p:spPr>
          <a:xfrm>
            <a:off x="731520" y="1874519"/>
            <a:ext cx="10058400" cy="1463040"/>
          </a:xfrm>
          <a:prstGeom prst="rect">
            <a:avLst/>
          </a:prstGeom>
          <a:noFill/>
        </p:spPr>
        <p:txBody>
          <a:bodyPr wrap="square" anchor="t" lIns="0" rIns="0" tIns="0" bIns="0">
            <a:spAutoFit/>
          </a:bodyPr>
          <a:lstStyle/>
          <a:p>
            <a:pPr algn="l">
              <a:lnSpc>
                <a:spcPct val="110000"/>
              </a:lnSpc>
            </a:pPr>
            <a:r>
              <a:rPr sz="9600" b="1">
                <a:solidFill>
                  <a:srgbClr val="C6FF3D"/>
                </a:solidFill>
                <a:latin typeface="Unbounded"/>
              </a:rPr>
              <a:t>IronPass</a:t>
            </a:r>
          </a:p>
        </p:txBody>
      </p:sp>
      <p:sp>
        <p:nvSpPr>
          <p:cNvPr id="5" name="TextBox 4"/>
          <p:cNvSpPr txBox="1"/>
          <p:nvPr/>
        </p:nvSpPr>
        <p:spPr>
          <a:xfrm>
            <a:off x="731520" y="3520440"/>
            <a:ext cx="9144000" cy="731520"/>
          </a:xfrm>
          <a:prstGeom prst="rect">
            <a:avLst/>
          </a:prstGeom>
          <a:noFill/>
        </p:spPr>
        <p:txBody>
          <a:bodyPr wrap="square" anchor="t" lIns="0" rIns="0" tIns="0" bIns="0">
            <a:spAutoFit/>
          </a:bodyPr>
          <a:lstStyle/>
          <a:p>
            <a:pPr algn="l">
              <a:lnSpc>
                <a:spcPct val="110000"/>
              </a:lnSpc>
            </a:pPr>
            <a:r>
              <a:rPr sz="3000" b="0">
                <a:solidFill>
                  <a:srgbClr val="F5F7FA"/>
                </a:solidFill>
                <a:latin typeface="DM Sans"/>
              </a:rPr>
              <a:t>From code to a monitored Kubernetes cluster</a:t>
            </a:r>
          </a:p>
        </p:txBody>
      </p:sp>
      <p:sp>
        <p:nvSpPr>
          <p:cNvPr id="6" name="TextBox 5"/>
          <p:cNvSpPr txBox="1"/>
          <p:nvPr/>
        </p:nvSpPr>
        <p:spPr>
          <a:xfrm>
            <a:off x="731520" y="4297680"/>
            <a:ext cx="7315200" cy="36576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A gym membership app by Romit</a:t>
            </a:r>
          </a:p>
        </p:txBody>
      </p:sp>
      <p:pic>
        <p:nvPicPr>
          <p:cNvPr id="7" name="Picture 6" descr="stage-code.png"/>
          <p:cNvPicPr>
            <a:picLocks noChangeAspect="1"/>
          </p:cNvPicPr>
          <p:nvPr/>
        </p:nvPicPr>
        <p:blipFill>
          <a:blip r:embed="rId3"/>
          <a:stretch>
            <a:fillRect/>
          </a:stretch>
        </p:blipFill>
        <p:spPr>
          <a:xfrm>
            <a:off x="731520" y="5257800"/>
            <a:ext cx="731520" cy="731520"/>
          </a:xfrm>
          <a:prstGeom prst="rect">
            <a:avLst/>
          </a:prstGeom>
        </p:spPr>
      </p:pic>
      <p:sp>
        <p:nvSpPr>
          <p:cNvPr id="8" name="TextBox 7"/>
          <p:cNvSpPr txBox="1"/>
          <p:nvPr/>
        </p:nvSpPr>
        <p:spPr>
          <a:xfrm>
            <a:off x="640080" y="6080760"/>
            <a:ext cx="1097280" cy="320040"/>
          </a:xfrm>
          <a:prstGeom prst="rect">
            <a:avLst/>
          </a:prstGeom>
          <a:noFill/>
        </p:spPr>
        <p:txBody>
          <a:bodyPr wrap="square" anchor="t" lIns="0" rIns="0" tIns="0" bIns="0">
            <a:spAutoFit/>
          </a:bodyPr>
          <a:lstStyle/>
          <a:p>
            <a:pPr algn="l">
              <a:lnSpc>
                <a:spcPct val="110000"/>
              </a:lnSpc>
            </a:pPr>
            <a:r>
              <a:rPr sz="1800" b="1">
                <a:solidFill>
                  <a:srgbClr val="C6FF3D"/>
                </a:solidFill>
                <a:latin typeface="DM Sans"/>
              </a:rPr>
              <a:t>Code</a:t>
            </a:r>
          </a:p>
        </p:txBody>
      </p:sp>
      <p:pic>
        <p:nvPicPr>
          <p:cNvPr id="9" name="Picture 8" descr="stage-test.png"/>
          <p:cNvPicPr>
            <a:picLocks noChangeAspect="1"/>
          </p:cNvPicPr>
          <p:nvPr/>
        </p:nvPicPr>
        <p:blipFill>
          <a:blip r:embed="rId4"/>
          <a:stretch>
            <a:fillRect/>
          </a:stretch>
        </p:blipFill>
        <p:spPr>
          <a:xfrm>
            <a:off x="2212848" y="5257800"/>
            <a:ext cx="731520" cy="731520"/>
          </a:xfrm>
          <a:prstGeom prst="rect">
            <a:avLst/>
          </a:prstGeom>
        </p:spPr>
      </p:pic>
      <p:sp>
        <p:nvSpPr>
          <p:cNvPr id="10" name="TextBox 9"/>
          <p:cNvSpPr txBox="1"/>
          <p:nvPr/>
        </p:nvSpPr>
        <p:spPr>
          <a:xfrm>
            <a:off x="2121408" y="6080760"/>
            <a:ext cx="1097280" cy="320040"/>
          </a:xfrm>
          <a:prstGeom prst="rect">
            <a:avLst/>
          </a:prstGeom>
          <a:noFill/>
        </p:spPr>
        <p:txBody>
          <a:bodyPr wrap="square" anchor="t" lIns="0" rIns="0" tIns="0" bIns="0">
            <a:spAutoFit/>
          </a:bodyPr>
          <a:lstStyle/>
          <a:p>
            <a:pPr algn="l">
              <a:lnSpc>
                <a:spcPct val="110000"/>
              </a:lnSpc>
            </a:pPr>
            <a:r>
              <a:rPr sz="1800" b="1">
                <a:solidFill>
                  <a:srgbClr val="22D3EE"/>
                </a:solidFill>
                <a:latin typeface="DM Sans"/>
              </a:rPr>
              <a:t>Test</a:t>
            </a:r>
          </a:p>
        </p:txBody>
      </p:sp>
      <p:pic>
        <p:nvPicPr>
          <p:cNvPr id="11" name="Picture 10" descr="stage-build.png"/>
          <p:cNvPicPr>
            <a:picLocks noChangeAspect="1"/>
          </p:cNvPicPr>
          <p:nvPr/>
        </p:nvPicPr>
        <p:blipFill>
          <a:blip r:embed="rId5"/>
          <a:stretch>
            <a:fillRect/>
          </a:stretch>
        </p:blipFill>
        <p:spPr>
          <a:xfrm>
            <a:off x="3694176" y="5257800"/>
            <a:ext cx="731520" cy="731520"/>
          </a:xfrm>
          <a:prstGeom prst="rect">
            <a:avLst/>
          </a:prstGeom>
        </p:spPr>
      </p:pic>
      <p:sp>
        <p:nvSpPr>
          <p:cNvPr id="12" name="TextBox 11"/>
          <p:cNvSpPr txBox="1"/>
          <p:nvPr/>
        </p:nvSpPr>
        <p:spPr>
          <a:xfrm>
            <a:off x="3602736" y="6080760"/>
            <a:ext cx="1097280" cy="320040"/>
          </a:xfrm>
          <a:prstGeom prst="rect">
            <a:avLst/>
          </a:prstGeom>
          <a:noFill/>
        </p:spPr>
        <p:txBody>
          <a:bodyPr wrap="square" anchor="t" lIns="0" rIns="0" tIns="0" bIns="0">
            <a:spAutoFit/>
          </a:bodyPr>
          <a:lstStyle/>
          <a:p>
            <a:pPr algn="l">
              <a:lnSpc>
                <a:spcPct val="110000"/>
              </a:lnSpc>
            </a:pPr>
            <a:r>
              <a:rPr sz="1800" b="1">
                <a:solidFill>
                  <a:srgbClr val="FFB547"/>
                </a:solidFill>
                <a:latin typeface="DM Sans"/>
              </a:rPr>
              <a:t>Build</a:t>
            </a:r>
          </a:p>
        </p:txBody>
      </p:sp>
      <p:pic>
        <p:nvPicPr>
          <p:cNvPr id="13" name="Picture 12" descr="stage-scan.png"/>
          <p:cNvPicPr>
            <a:picLocks noChangeAspect="1"/>
          </p:cNvPicPr>
          <p:nvPr/>
        </p:nvPicPr>
        <p:blipFill>
          <a:blip r:embed="rId6"/>
          <a:stretch>
            <a:fillRect/>
          </a:stretch>
        </p:blipFill>
        <p:spPr>
          <a:xfrm>
            <a:off x="5175504" y="5257800"/>
            <a:ext cx="731520" cy="731520"/>
          </a:xfrm>
          <a:prstGeom prst="rect">
            <a:avLst/>
          </a:prstGeom>
        </p:spPr>
      </p:pic>
      <p:sp>
        <p:nvSpPr>
          <p:cNvPr id="14" name="TextBox 13"/>
          <p:cNvSpPr txBox="1"/>
          <p:nvPr/>
        </p:nvSpPr>
        <p:spPr>
          <a:xfrm>
            <a:off x="5084064" y="6080760"/>
            <a:ext cx="1097280" cy="320040"/>
          </a:xfrm>
          <a:prstGeom prst="rect">
            <a:avLst/>
          </a:prstGeom>
          <a:noFill/>
        </p:spPr>
        <p:txBody>
          <a:bodyPr wrap="square" anchor="t" lIns="0" rIns="0" tIns="0" bIns="0">
            <a:spAutoFit/>
          </a:bodyPr>
          <a:lstStyle/>
          <a:p>
            <a:pPr algn="l">
              <a:lnSpc>
                <a:spcPct val="110000"/>
              </a:lnSpc>
            </a:pPr>
            <a:r>
              <a:rPr sz="1800" b="1">
                <a:solidFill>
                  <a:srgbClr val="FF5D5D"/>
                </a:solidFill>
                <a:latin typeface="DM Sans"/>
              </a:rPr>
              <a:t>Scan</a:t>
            </a:r>
          </a:p>
        </p:txBody>
      </p:sp>
      <p:pic>
        <p:nvPicPr>
          <p:cNvPr id="15" name="Picture 14" descr="stage-provision.png"/>
          <p:cNvPicPr>
            <a:picLocks noChangeAspect="1"/>
          </p:cNvPicPr>
          <p:nvPr/>
        </p:nvPicPr>
        <p:blipFill>
          <a:blip r:embed="rId7"/>
          <a:stretch>
            <a:fillRect/>
          </a:stretch>
        </p:blipFill>
        <p:spPr>
          <a:xfrm>
            <a:off x="6656832" y="5257800"/>
            <a:ext cx="731520" cy="731520"/>
          </a:xfrm>
          <a:prstGeom prst="rect">
            <a:avLst/>
          </a:prstGeom>
        </p:spPr>
      </p:pic>
      <p:sp>
        <p:nvSpPr>
          <p:cNvPr id="16" name="TextBox 15"/>
          <p:cNvSpPr txBox="1"/>
          <p:nvPr/>
        </p:nvSpPr>
        <p:spPr>
          <a:xfrm>
            <a:off x="6565392" y="6080760"/>
            <a:ext cx="1097280" cy="320040"/>
          </a:xfrm>
          <a:prstGeom prst="rect">
            <a:avLst/>
          </a:prstGeom>
          <a:noFill/>
        </p:spPr>
        <p:txBody>
          <a:bodyPr wrap="square" anchor="t" lIns="0" rIns="0" tIns="0" bIns="0">
            <a:spAutoFit/>
          </a:bodyPr>
          <a:lstStyle/>
          <a:p>
            <a:pPr algn="l">
              <a:lnSpc>
                <a:spcPct val="110000"/>
              </a:lnSpc>
            </a:pPr>
            <a:r>
              <a:rPr sz="1800" b="1">
                <a:solidFill>
                  <a:srgbClr val="7C4DFF"/>
                </a:solidFill>
                <a:latin typeface="DM Sans"/>
              </a:rPr>
              <a:t>Provision</a:t>
            </a:r>
          </a:p>
        </p:txBody>
      </p:sp>
      <p:pic>
        <p:nvPicPr>
          <p:cNvPr id="17" name="Picture 16" descr="stage-deploy.png"/>
          <p:cNvPicPr>
            <a:picLocks noChangeAspect="1"/>
          </p:cNvPicPr>
          <p:nvPr/>
        </p:nvPicPr>
        <p:blipFill>
          <a:blip r:embed="rId8"/>
          <a:stretch>
            <a:fillRect/>
          </a:stretch>
        </p:blipFill>
        <p:spPr>
          <a:xfrm>
            <a:off x="8138160" y="5257800"/>
            <a:ext cx="731520" cy="731520"/>
          </a:xfrm>
          <a:prstGeom prst="rect">
            <a:avLst/>
          </a:prstGeom>
        </p:spPr>
      </p:pic>
      <p:sp>
        <p:nvSpPr>
          <p:cNvPr id="18" name="TextBox 17"/>
          <p:cNvSpPr txBox="1"/>
          <p:nvPr/>
        </p:nvSpPr>
        <p:spPr>
          <a:xfrm>
            <a:off x="8046720" y="6080760"/>
            <a:ext cx="1097280" cy="320040"/>
          </a:xfrm>
          <a:prstGeom prst="rect">
            <a:avLst/>
          </a:prstGeom>
          <a:noFill/>
        </p:spPr>
        <p:txBody>
          <a:bodyPr wrap="square" anchor="t" lIns="0" rIns="0" tIns="0" bIns="0">
            <a:spAutoFit/>
          </a:bodyPr>
          <a:lstStyle/>
          <a:p>
            <a:pPr algn="l">
              <a:lnSpc>
                <a:spcPct val="110000"/>
              </a:lnSpc>
            </a:pPr>
            <a:r>
              <a:rPr sz="1800" b="1">
                <a:solidFill>
                  <a:srgbClr val="FF6BD6"/>
                </a:solidFill>
                <a:latin typeface="DM Sans"/>
              </a:rPr>
              <a:t>Deploy</a:t>
            </a:r>
          </a:p>
        </p:txBody>
      </p:sp>
      <p:pic>
        <p:nvPicPr>
          <p:cNvPr id="19" name="Picture 18" descr="stage-monitor.png"/>
          <p:cNvPicPr>
            <a:picLocks noChangeAspect="1"/>
          </p:cNvPicPr>
          <p:nvPr/>
        </p:nvPicPr>
        <p:blipFill>
          <a:blip r:embed="rId9"/>
          <a:stretch>
            <a:fillRect/>
          </a:stretch>
        </p:blipFill>
        <p:spPr>
          <a:xfrm>
            <a:off x="9619488" y="5257800"/>
            <a:ext cx="731520" cy="731520"/>
          </a:xfrm>
          <a:prstGeom prst="rect">
            <a:avLst/>
          </a:prstGeom>
        </p:spPr>
      </p:pic>
      <p:sp>
        <p:nvSpPr>
          <p:cNvPr id="20" name="TextBox 19"/>
          <p:cNvSpPr txBox="1"/>
          <p:nvPr/>
        </p:nvSpPr>
        <p:spPr>
          <a:xfrm>
            <a:off x="9528048" y="6080760"/>
            <a:ext cx="1097280" cy="320040"/>
          </a:xfrm>
          <a:prstGeom prst="rect">
            <a:avLst/>
          </a:prstGeom>
          <a:noFill/>
        </p:spPr>
        <p:txBody>
          <a:bodyPr wrap="square" anchor="t" lIns="0" rIns="0" tIns="0" bIns="0">
            <a:spAutoFit/>
          </a:bodyPr>
          <a:lstStyle/>
          <a:p>
            <a:pPr algn="l">
              <a:lnSpc>
                <a:spcPct val="110000"/>
              </a:lnSpc>
            </a:pPr>
            <a:r>
              <a:rPr sz="1800" b="1">
                <a:solidFill>
                  <a:srgbClr val="2EE6A6"/>
                </a:solidFill>
                <a:latin typeface="DM Sans"/>
              </a:rPr>
              <a:t>Monitor</a:t>
            </a:r>
          </a:p>
        </p:txBody>
      </p:sp>
      <p:pic>
        <p:nvPicPr>
          <p:cNvPr id="21" name="Picture 20" descr="dumbbell.png"/>
          <p:cNvPicPr>
            <a:picLocks noChangeAspect="1"/>
          </p:cNvPicPr>
          <p:nvPr/>
        </p:nvPicPr>
        <p:blipFill>
          <a:blip r:embed="rId10"/>
          <a:stretch>
            <a:fillRect/>
          </a:stretch>
        </p:blipFill>
        <p:spPr>
          <a:xfrm>
            <a:off x="9656181" y="2417445"/>
            <a:ext cx="1737360" cy="1737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li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583180" cy="402336"/>
          </a:xfrm>
          <a:prstGeom prst="roundRect">
            <a:avLst>
              <a:gd name="adj" fmla="val 50000"/>
            </a:avLst>
          </a:prstGeom>
          <a:solidFill>
            <a:srgbClr val="C6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583180"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01  THE PRODUCT</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The problem</a:t>
            </a:r>
          </a:p>
        </p:txBody>
      </p:sp>
      <p:sp>
        <p:nvSpPr>
          <p:cNvPr id="6" name="TextBox 5"/>
          <p:cNvSpPr txBox="1"/>
          <p:nvPr/>
        </p:nvSpPr>
        <p:spPr>
          <a:xfrm>
            <a:off x="594360" y="1920240"/>
            <a:ext cx="5120640" cy="1097280"/>
          </a:xfrm>
          <a:prstGeom prst="rect">
            <a:avLst/>
          </a:prstGeom>
          <a:noFill/>
        </p:spPr>
        <p:txBody>
          <a:bodyPr wrap="square" anchor="t" lIns="0" rIns="0" tIns="0" bIns="0">
            <a:spAutoFit/>
          </a:bodyPr>
          <a:lstStyle/>
          <a:p>
            <a:pPr algn="l">
              <a:lnSpc>
                <a:spcPct val="110000"/>
              </a:lnSpc>
            </a:pPr>
            <a:r>
              <a:rPr sz="2800" b="1">
                <a:solidFill>
                  <a:srgbClr val="F5F7FA"/>
                </a:solidFill>
                <a:latin typeface="DM Sans"/>
              </a:rPr>
              <a:t>Paper lists let expired members in.</a:t>
            </a:r>
          </a:p>
        </p:txBody>
      </p:sp>
      <p:pic>
        <p:nvPicPr>
          <p:cNvPr id="7" name="Picture 6" descr="users.png"/>
          <p:cNvPicPr>
            <a:picLocks noChangeAspect="1"/>
          </p:cNvPicPr>
          <p:nvPr/>
        </p:nvPicPr>
        <p:blipFill>
          <a:blip r:embed="rId3"/>
          <a:stretch>
            <a:fillRect/>
          </a:stretch>
        </p:blipFill>
        <p:spPr>
          <a:xfrm>
            <a:off x="594360" y="3246120"/>
            <a:ext cx="640080" cy="640080"/>
          </a:xfrm>
          <a:prstGeom prst="rect">
            <a:avLst/>
          </a:prstGeom>
        </p:spPr>
      </p:pic>
      <p:sp>
        <p:nvSpPr>
          <p:cNvPr id="8" name="TextBox 7"/>
          <p:cNvSpPr txBox="1"/>
          <p:nvPr/>
        </p:nvSpPr>
        <p:spPr>
          <a:xfrm>
            <a:off x="1463040" y="3246120"/>
            <a:ext cx="420624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Sign members up</a:t>
            </a:r>
          </a:p>
        </p:txBody>
      </p:sp>
      <p:pic>
        <p:nvPicPr>
          <p:cNvPr id="9" name="Picture 8" descr="user-check.png"/>
          <p:cNvPicPr>
            <a:picLocks noChangeAspect="1"/>
          </p:cNvPicPr>
          <p:nvPr/>
        </p:nvPicPr>
        <p:blipFill>
          <a:blip r:embed="rId4"/>
          <a:stretch>
            <a:fillRect/>
          </a:stretch>
        </p:blipFill>
        <p:spPr>
          <a:xfrm>
            <a:off x="594360" y="4160520"/>
            <a:ext cx="640080" cy="640080"/>
          </a:xfrm>
          <a:prstGeom prst="rect">
            <a:avLst/>
          </a:prstGeom>
        </p:spPr>
      </p:pic>
      <p:sp>
        <p:nvSpPr>
          <p:cNvPr id="10" name="TextBox 9"/>
          <p:cNvSpPr txBox="1"/>
          <p:nvPr/>
        </p:nvSpPr>
        <p:spPr>
          <a:xfrm>
            <a:off x="1463040" y="4160520"/>
            <a:ext cx="420624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Check them in</a:t>
            </a:r>
          </a:p>
        </p:txBody>
      </p:sp>
      <p:pic>
        <p:nvPicPr>
          <p:cNvPr id="11" name="Picture 10" descr="ban.png"/>
          <p:cNvPicPr>
            <a:picLocks noChangeAspect="1"/>
          </p:cNvPicPr>
          <p:nvPr/>
        </p:nvPicPr>
        <p:blipFill>
          <a:blip r:embed="rId5"/>
          <a:stretch>
            <a:fillRect/>
          </a:stretch>
        </p:blipFill>
        <p:spPr>
          <a:xfrm>
            <a:off x="594360" y="5074920"/>
            <a:ext cx="640080" cy="640080"/>
          </a:xfrm>
          <a:prstGeom prst="rect">
            <a:avLst/>
          </a:prstGeom>
        </p:spPr>
      </p:pic>
      <p:sp>
        <p:nvSpPr>
          <p:cNvPr id="12" name="TextBox 11"/>
          <p:cNvSpPr txBox="1"/>
          <p:nvPr/>
        </p:nvSpPr>
        <p:spPr>
          <a:xfrm>
            <a:off x="1463040" y="5074920"/>
            <a:ext cx="420624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Refuse expired plans</a:t>
            </a:r>
          </a:p>
        </p:txBody>
      </p:sp>
      <p:pic>
        <p:nvPicPr>
          <p:cNvPr id="13" name="Picture 12" descr="rejected.png"/>
          <p:cNvPicPr>
            <a:picLocks noChangeAspect="1"/>
          </p:cNvPicPr>
          <p:nvPr/>
        </p:nvPicPr>
        <p:blipFill>
          <a:blip r:embed="rId6"/>
          <a:stretch>
            <a:fillRect/>
          </a:stretch>
        </p:blipFill>
        <p:spPr>
          <a:xfrm>
            <a:off x="4892040" y="1801368"/>
            <a:ext cx="5120640" cy="3060612"/>
          </a:xfrm>
          <a:prstGeom prst="rect">
            <a:avLst/>
          </a:prstGeom>
        </p:spPr>
      </p:pic>
      <p:sp>
        <p:nvSpPr>
          <p:cNvPr id="14" name="TextBox 13"/>
          <p:cNvSpPr txBox="1"/>
          <p:nvPr/>
        </p:nvSpPr>
        <p:spPr>
          <a:xfrm>
            <a:off x="5061256" y="4768911"/>
            <a:ext cx="4782206" cy="365760"/>
          </a:xfrm>
          <a:prstGeom prst="rect">
            <a:avLst/>
          </a:prstGeom>
          <a:noFill/>
        </p:spPr>
        <p:txBody>
          <a:bodyPr wrap="square" anchor="t" lIns="0" rIns="0" tIns="0" bIns="0">
            <a:spAutoFit/>
          </a:bodyPr>
          <a:lstStyle/>
          <a:p>
            <a:pPr algn="l">
              <a:lnSpc>
                <a:spcPct val="110000"/>
              </a:lnSpc>
            </a:pPr>
            <a:r>
              <a:rPr sz="1800" b="0">
                <a:solidFill>
                  <a:srgbClr val="9AA4C4"/>
                </a:solidFill>
                <a:latin typeface="DM Sans"/>
              </a:rPr>
              <a:t>Expired plan, check-in refused</a:t>
            </a:r>
          </a:p>
        </p:txBody>
      </p:sp>
      <p:pic>
        <p:nvPicPr>
          <p:cNvPr id="15" name="Picture 14" descr="mobile.png"/>
          <p:cNvPicPr>
            <a:picLocks noChangeAspect="1"/>
          </p:cNvPicPr>
          <p:nvPr/>
        </p:nvPicPr>
        <p:blipFill>
          <a:blip r:embed="rId7"/>
          <a:stretch>
            <a:fillRect/>
          </a:stretch>
        </p:blipFill>
        <p:spPr>
          <a:xfrm>
            <a:off x="10104120" y="1783080"/>
            <a:ext cx="201168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cyan.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441448" cy="402336"/>
          </a:xfrm>
          <a:prstGeom prst="roundRect">
            <a:avLst>
              <a:gd name="adj" fmla="val 50000"/>
            </a:avLst>
          </a:prstGeom>
          <a:solidFill>
            <a:srgbClr val="C6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441448"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02  TECH STACK</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Tech stack</a:t>
            </a:r>
          </a:p>
        </p:txBody>
      </p:sp>
      <p:pic>
        <p:nvPicPr>
          <p:cNvPr id="6" name="Picture 5" descr="brand-python.png"/>
          <p:cNvPicPr>
            <a:picLocks noChangeAspect="1"/>
          </p:cNvPicPr>
          <p:nvPr/>
        </p:nvPicPr>
        <p:blipFill>
          <a:blip r:embed="rId3"/>
          <a:stretch>
            <a:fillRect/>
          </a:stretch>
        </p:blipFill>
        <p:spPr>
          <a:xfrm>
            <a:off x="685800" y="2011680"/>
            <a:ext cx="914400" cy="914400"/>
          </a:xfrm>
          <a:prstGeom prst="rect">
            <a:avLst/>
          </a:prstGeom>
        </p:spPr>
      </p:pic>
      <p:sp>
        <p:nvSpPr>
          <p:cNvPr id="7" name="TextBox 6"/>
          <p:cNvSpPr txBox="1"/>
          <p:nvPr/>
        </p:nvSpPr>
        <p:spPr>
          <a:xfrm>
            <a:off x="1737360" y="20116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Python</a:t>
            </a:r>
          </a:p>
        </p:txBody>
      </p:sp>
      <p:pic>
        <p:nvPicPr>
          <p:cNvPr id="8" name="Picture 7" descr="brand-fastapi.png"/>
          <p:cNvPicPr>
            <a:picLocks noChangeAspect="1"/>
          </p:cNvPicPr>
          <p:nvPr/>
        </p:nvPicPr>
        <p:blipFill>
          <a:blip r:embed="rId4"/>
          <a:stretch>
            <a:fillRect/>
          </a:stretch>
        </p:blipFill>
        <p:spPr>
          <a:xfrm>
            <a:off x="3520440" y="2011680"/>
            <a:ext cx="914400" cy="914400"/>
          </a:xfrm>
          <a:prstGeom prst="rect">
            <a:avLst/>
          </a:prstGeom>
        </p:spPr>
      </p:pic>
      <p:sp>
        <p:nvSpPr>
          <p:cNvPr id="9" name="TextBox 8"/>
          <p:cNvSpPr txBox="1"/>
          <p:nvPr/>
        </p:nvSpPr>
        <p:spPr>
          <a:xfrm>
            <a:off x="4572000" y="20116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FastAPI</a:t>
            </a:r>
          </a:p>
        </p:txBody>
      </p:sp>
      <p:pic>
        <p:nvPicPr>
          <p:cNvPr id="10" name="Picture 9" descr="brand-react.png"/>
          <p:cNvPicPr>
            <a:picLocks noChangeAspect="1"/>
          </p:cNvPicPr>
          <p:nvPr/>
        </p:nvPicPr>
        <p:blipFill>
          <a:blip r:embed="rId5"/>
          <a:stretch>
            <a:fillRect/>
          </a:stretch>
        </p:blipFill>
        <p:spPr>
          <a:xfrm>
            <a:off x="6355080" y="2011680"/>
            <a:ext cx="914400" cy="914400"/>
          </a:xfrm>
          <a:prstGeom prst="rect">
            <a:avLst/>
          </a:prstGeom>
        </p:spPr>
      </p:pic>
      <p:sp>
        <p:nvSpPr>
          <p:cNvPr id="11" name="TextBox 10"/>
          <p:cNvSpPr txBox="1"/>
          <p:nvPr/>
        </p:nvSpPr>
        <p:spPr>
          <a:xfrm>
            <a:off x="7406640" y="20116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React</a:t>
            </a:r>
          </a:p>
        </p:txBody>
      </p:sp>
      <p:pic>
        <p:nvPicPr>
          <p:cNvPr id="12" name="Picture 11" descr="brand-postgresql.png"/>
          <p:cNvPicPr>
            <a:picLocks noChangeAspect="1"/>
          </p:cNvPicPr>
          <p:nvPr/>
        </p:nvPicPr>
        <p:blipFill>
          <a:blip r:embed="rId6"/>
          <a:stretch>
            <a:fillRect/>
          </a:stretch>
        </p:blipFill>
        <p:spPr>
          <a:xfrm>
            <a:off x="9189720" y="2011680"/>
            <a:ext cx="914400" cy="914400"/>
          </a:xfrm>
          <a:prstGeom prst="rect">
            <a:avLst/>
          </a:prstGeom>
        </p:spPr>
      </p:pic>
      <p:sp>
        <p:nvSpPr>
          <p:cNvPr id="13" name="TextBox 12"/>
          <p:cNvSpPr txBox="1"/>
          <p:nvPr/>
        </p:nvSpPr>
        <p:spPr>
          <a:xfrm>
            <a:off x="10241280" y="20116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PostgreSQL</a:t>
            </a:r>
          </a:p>
        </p:txBody>
      </p:sp>
      <p:pic>
        <p:nvPicPr>
          <p:cNvPr id="14" name="Picture 13" descr="brand-docker.png"/>
          <p:cNvPicPr>
            <a:picLocks noChangeAspect="1"/>
          </p:cNvPicPr>
          <p:nvPr/>
        </p:nvPicPr>
        <p:blipFill>
          <a:blip r:embed="rId7"/>
          <a:stretch>
            <a:fillRect/>
          </a:stretch>
        </p:blipFill>
        <p:spPr>
          <a:xfrm>
            <a:off x="685800" y="3611880"/>
            <a:ext cx="914400" cy="914400"/>
          </a:xfrm>
          <a:prstGeom prst="rect">
            <a:avLst/>
          </a:prstGeom>
        </p:spPr>
      </p:pic>
      <p:sp>
        <p:nvSpPr>
          <p:cNvPr id="15" name="TextBox 14"/>
          <p:cNvSpPr txBox="1"/>
          <p:nvPr/>
        </p:nvSpPr>
        <p:spPr>
          <a:xfrm>
            <a:off x="1737360" y="36118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Docker</a:t>
            </a:r>
          </a:p>
        </p:txBody>
      </p:sp>
      <p:pic>
        <p:nvPicPr>
          <p:cNvPr id="16" name="Picture 15" descr="brand-kubernetes.png"/>
          <p:cNvPicPr>
            <a:picLocks noChangeAspect="1"/>
          </p:cNvPicPr>
          <p:nvPr/>
        </p:nvPicPr>
        <p:blipFill>
          <a:blip r:embed="rId8"/>
          <a:stretch>
            <a:fillRect/>
          </a:stretch>
        </p:blipFill>
        <p:spPr>
          <a:xfrm>
            <a:off x="3520440" y="3611880"/>
            <a:ext cx="914400" cy="914400"/>
          </a:xfrm>
          <a:prstGeom prst="rect">
            <a:avLst/>
          </a:prstGeom>
        </p:spPr>
      </p:pic>
      <p:sp>
        <p:nvSpPr>
          <p:cNvPr id="17" name="TextBox 16"/>
          <p:cNvSpPr txBox="1"/>
          <p:nvPr/>
        </p:nvSpPr>
        <p:spPr>
          <a:xfrm>
            <a:off x="4572000" y="36118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Kubernetes</a:t>
            </a:r>
          </a:p>
        </p:txBody>
      </p:sp>
      <p:pic>
        <p:nvPicPr>
          <p:cNvPr id="18" name="Picture 17" descr="brand-helm.png"/>
          <p:cNvPicPr>
            <a:picLocks noChangeAspect="1"/>
          </p:cNvPicPr>
          <p:nvPr/>
        </p:nvPicPr>
        <p:blipFill>
          <a:blip r:embed="rId9"/>
          <a:stretch>
            <a:fillRect/>
          </a:stretch>
        </p:blipFill>
        <p:spPr>
          <a:xfrm>
            <a:off x="6355080" y="3611880"/>
            <a:ext cx="914400" cy="914400"/>
          </a:xfrm>
          <a:prstGeom prst="rect">
            <a:avLst/>
          </a:prstGeom>
        </p:spPr>
      </p:pic>
      <p:sp>
        <p:nvSpPr>
          <p:cNvPr id="19" name="TextBox 18"/>
          <p:cNvSpPr txBox="1"/>
          <p:nvPr/>
        </p:nvSpPr>
        <p:spPr>
          <a:xfrm>
            <a:off x="7406640" y="36118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Helm</a:t>
            </a:r>
          </a:p>
        </p:txBody>
      </p:sp>
      <p:pic>
        <p:nvPicPr>
          <p:cNvPr id="20" name="Picture 19" descr="brand-terraform.png"/>
          <p:cNvPicPr>
            <a:picLocks noChangeAspect="1"/>
          </p:cNvPicPr>
          <p:nvPr/>
        </p:nvPicPr>
        <p:blipFill>
          <a:blip r:embed="rId10"/>
          <a:stretch>
            <a:fillRect/>
          </a:stretch>
        </p:blipFill>
        <p:spPr>
          <a:xfrm>
            <a:off x="9189720" y="3611880"/>
            <a:ext cx="914400" cy="914400"/>
          </a:xfrm>
          <a:prstGeom prst="rect">
            <a:avLst/>
          </a:prstGeom>
        </p:spPr>
      </p:pic>
      <p:sp>
        <p:nvSpPr>
          <p:cNvPr id="21" name="TextBox 20"/>
          <p:cNvSpPr txBox="1"/>
          <p:nvPr/>
        </p:nvSpPr>
        <p:spPr>
          <a:xfrm>
            <a:off x="10241280" y="36118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Terraform</a:t>
            </a:r>
          </a:p>
        </p:txBody>
      </p:sp>
      <p:pic>
        <p:nvPicPr>
          <p:cNvPr id="22" name="Picture 21" descr="brand-aws.png"/>
          <p:cNvPicPr>
            <a:picLocks noChangeAspect="1"/>
          </p:cNvPicPr>
          <p:nvPr/>
        </p:nvPicPr>
        <p:blipFill>
          <a:blip r:embed="rId11"/>
          <a:stretch>
            <a:fillRect/>
          </a:stretch>
        </p:blipFill>
        <p:spPr>
          <a:xfrm>
            <a:off x="685800" y="5212080"/>
            <a:ext cx="914400" cy="914400"/>
          </a:xfrm>
          <a:prstGeom prst="rect">
            <a:avLst/>
          </a:prstGeom>
        </p:spPr>
      </p:pic>
      <p:sp>
        <p:nvSpPr>
          <p:cNvPr id="23" name="TextBox 22"/>
          <p:cNvSpPr txBox="1"/>
          <p:nvPr/>
        </p:nvSpPr>
        <p:spPr>
          <a:xfrm>
            <a:off x="1737360" y="52120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AWS</a:t>
            </a:r>
          </a:p>
        </p:txBody>
      </p:sp>
      <p:pic>
        <p:nvPicPr>
          <p:cNvPr id="24" name="Picture 23" descr="brand-githubactions.png"/>
          <p:cNvPicPr>
            <a:picLocks noChangeAspect="1"/>
          </p:cNvPicPr>
          <p:nvPr/>
        </p:nvPicPr>
        <p:blipFill>
          <a:blip r:embed="rId12"/>
          <a:stretch>
            <a:fillRect/>
          </a:stretch>
        </p:blipFill>
        <p:spPr>
          <a:xfrm>
            <a:off x="3520440" y="5212080"/>
            <a:ext cx="914400" cy="914400"/>
          </a:xfrm>
          <a:prstGeom prst="rect">
            <a:avLst/>
          </a:prstGeom>
        </p:spPr>
      </p:pic>
      <p:sp>
        <p:nvSpPr>
          <p:cNvPr id="25" name="TextBox 24"/>
          <p:cNvSpPr txBox="1"/>
          <p:nvPr/>
        </p:nvSpPr>
        <p:spPr>
          <a:xfrm>
            <a:off x="4572000" y="52120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GitHub Actions</a:t>
            </a:r>
          </a:p>
        </p:txBody>
      </p:sp>
      <p:pic>
        <p:nvPicPr>
          <p:cNvPr id="26" name="Picture 25" descr="brand-prometheus.png"/>
          <p:cNvPicPr>
            <a:picLocks noChangeAspect="1"/>
          </p:cNvPicPr>
          <p:nvPr/>
        </p:nvPicPr>
        <p:blipFill>
          <a:blip r:embed="rId13"/>
          <a:stretch>
            <a:fillRect/>
          </a:stretch>
        </p:blipFill>
        <p:spPr>
          <a:xfrm>
            <a:off x="6355080" y="5212080"/>
            <a:ext cx="914400" cy="914400"/>
          </a:xfrm>
          <a:prstGeom prst="rect">
            <a:avLst/>
          </a:prstGeom>
        </p:spPr>
      </p:pic>
      <p:sp>
        <p:nvSpPr>
          <p:cNvPr id="27" name="TextBox 26"/>
          <p:cNvSpPr txBox="1"/>
          <p:nvPr/>
        </p:nvSpPr>
        <p:spPr>
          <a:xfrm>
            <a:off x="7406640" y="52120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Prometheus</a:t>
            </a:r>
          </a:p>
        </p:txBody>
      </p:sp>
      <p:pic>
        <p:nvPicPr>
          <p:cNvPr id="28" name="Picture 27" descr="brand-grafana.png"/>
          <p:cNvPicPr>
            <a:picLocks noChangeAspect="1"/>
          </p:cNvPicPr>
          <p:nvPr/>
        </p:nvPicPr>
        <p:blipFill>
          <a:blip r:embed="rId14"/>
          <a:stretch>
            <a:fillRect/>
          </a:stretch>
        </p:blipFill>
        <p:spPr>
          <a:xfrm>
            <a:off x="9189720" y="5212080"/>
            <a:ext cx="914400" cy="914400"/>
          </a:xfrm>
          <a:prstGeom prst="rect">
            <a:avLst/>
          </a:prstGeom>
        </p:spPr>
      </p:pic>
      <p:sp>
        <p:nvSpPr>
          <p:cNvPr id="29" name="TextBox 28"/>
          <p:cNvSpPr txBox="1"/>
          <p:nvPr/>
        </p:nvSpPr>
        <p:spPr>
          <a:xfrm>
            <a:off x="10241280" y="5212080"/>
            <a:ext cx="1645920" cy="914400"/>
          </a:xfrm>
          <a:prstGeom prst="rect">
            <a:avLst/>
          </a:prstGeom>
          <a:noFill/>
        </p:spPr>
        <p:txBody>
          <a:bodyPr wrap="square" anchor="ctr" lIns="0" rIns="0" tIns="0" bIns="0">
            <a:spAutoFit/>
          </a:bodyPr>
          <a:lstStyle/>
          <a:p>
            <a:pPr algn="l">
              <a:lnSpc>
                <a:spcPct val="110000"/>
              </a:lnSpc>
            </a:pPr>
            <a:r>
              <a:rPr sz="2000" b="1">
                <a:solidFill>
                  <a:srgbClr val="F5F7FA"/>
                </a:solidFill>
                <a:latin typeface="DM Sans"/>
              </a:rPr>
              <a:t>Grafana</a:t>
            </a:r>
          </a:p>
        </p:txBody>
      </p:sp>
      <p:sp>
        <p:nvSpPr>
          <p:cNvPr id="30" name="TextBox 29"/>
          <p:cNvSpPr txBox="1"/>
          <p:nvPr/>
        </p:nvSpPr>
        <p:spPr>
          <a:xfrm>
            <a:off x="6035040" y="1051560"/>
            <a:ext cx="5577840" cy="731520"/>
          </a:xfrm>
          <a:prstGeom prst="rect">
            <a:avLst/>
          </a:prstGeom>
          <a:noFill/>
        </p:spPr>
        <p:txBody>
          <a:bodyPr wrap="square" anchor="t" lIns="0" rIns="0" tIns="0" bIns="0">
            <a:spAutoFit/>
          </a:bodyPr>
          <a:lstStyle/>
          <a:p>
            <a:pPr algn="l">
              <a:lnSpc>
                <a:spcPct val="110000"/>
              </a:lnSpc>
            </a:pPr>
            <a:r>
              <a:rPr sz="2000" b="0">
                <a:solidFill>
                  <a:srgbClr val="9AA4C4"/>
                </a:solidFill>
                <a:latin typeface="DM Sans"/>
              </a:rPr>
              <a:t>Python backend, React frontend, PostgreSQL database, all in containers.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viole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724912" cy="402336"/>
          </a:xfrm>
          <a:prstGeom prst="roundRect">
            <a:avLst>
              <a:gd name="adj" fmla="val 50000"/>
            </a:avLst>
          </a:prstGeom>
          <a:solidFill>
            <a:srgbClr val="7C4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724912" cy="402336"/>
          </a:xfrm>
          <a:prstGeom prst="rect">
            <a:avLst/>
          </a:prstGeom>
          <a:noFill/>
        </p:spPr>
        <p:txBody>
          <a:bodyPr wrap="square" anchor="ctr" lIns="0" rIns="0" tIns="0" bIns="0">
            <a:spAutoFit/>
          </a:bodyPr>
          <a:lstStyle/>
          <a:p>
            <a:pPr algn="ctr">
              <a:lnSpc>
                <a:spcPct val="110000"/>
              </a:lnSpc>
            </a:pPr>
            <a:r>
              <a:rPr sz="1800" b="1">
                <a:solidFill>
                  <a:srgbClr val="F5F7FA"/>
                </a:solidFill>
                <a:latin typeface="DM Sans"/>
              </a:rPr>
              <a:t>03  ARCHITECTURE</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Architecture</a:t>
            </a:r>
          </a:p>
        </p:txBody>
      </p:sp>
      <p:pic>
        <p:nvPicPr>
          <p:cNvPr id="6" name="Picture 5" descr="architecture.png"/>
          <p:cNvPicPr>
            <a:picLocks noChangeAspect="1"/>
          </p:cNvPicPr>
          <p:nvPr/>
        </p:nvPicPr>
        <p:blipFill>
          <a:blip r:embed="rId3"/>
          <a:stretch>
            <a:fillRect/>
          </a:stretch>
        </p:blipFill>
        <p:spPr>
          <a:xfrm>
            <a:off x="777240" y="1783080"/>
            <a:ext cx="10607040" cy="4154424"/>
          </a:xfrm>
          <a:prstGeom prst="rect">
            <a:avLst/>
          </a:prstGeom>
        </p:spPr>
      </p:pic>
      <p:sp>
        <p:nvSpPr>
          <p:cNvPr id="7" name="TextBox 6"/>
          <p:cNvSpPr txBox="1"/>
          <p:nvPr/>
        </p:nvSpPr>
        <p:spPr>
          <a:xfrm>
            <a:off x="594360" y="6172200"/>
            <a:ext cx="10972800" cy="411480"/>
          </a:xfrm>
          <a:prstGeom prst="rect">
            <a:avLst/>
          </a:prstGeom>
          <a:noFill/>
        </p:spPr>
        <p:txBody>
          <a:bodyPr wrap="square" anchor="t" lIns="0" rIns="0" tIns="0" bIns="0">
            <a:spAutoFit/>
          </a:bodyPr>
          <a:lstStyle/>
          <a:p>
            <a:pPr algn="l">
              <a:lnSpc>
                <a:spcPct val="110000"/>
              </a:lnSpc>
            </a:pPr>
            <a:r>
              <a:rPr sz="2000" b="0">
                <a:solidFill>
                  <a:srgbClr val="9AA4C4"/>
                </a:solidFill>
                <a:latin typeface="DM Sans"/>
              </a:rPr>
              <a:t>Traefik routes web and API traffic into the cluster.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li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583180" cy="402336"/>
          </a:xfrm>
          <a:prstGeom prst="roundRect">
            <a:avLst>
              <a:gd name="adj" fmla="val 50000"/>
            </a:avLst>
          </a:prstGeom>
          <a:solidFill>
            <a:srgbClr val="C6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583180"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04  RUN LOCALLY</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Run it with Docker</a:t>
            </a:r>
          </a:p>
        </p:txBody>
      </p:sp>
      <p:sp>
        <p:nvSpPr>
          <p:cNvPr id="6" name="TextBox 5"/>
          <p:cNvSpPr txBox="1"/>
          <p:nvPr/>
        </p:nvSpPr>
        <p:spPr>
          <a:xfrm>
            <a:off x="594360" y="1737360"/>
            <a:ext cx="10972800" cy="411480"/>
          </a:xfrm>
          <a:prstGeom prst="rect">
            <a:avLst/>
          </a:prstGeom>
          <a:noFill/>
        </p:spPr>
        <p:txBody>
          <a:bodyPr wrap="square" anchor="t" lIns="0" rIns="0" tIns="0" bIns="0">
            <a:spAutoFit/>
          </a:bodyPr>
          <a:lstStyle/>
          <a:p>
            <a:pPr algn="l">
              <a:lnSpc>
                <a:spcPct val="110000"/>
              </a:lnSpc>
            </a:pPr>
            <a:r>
              <a:rPr sz="2000" b="0">
                <a:solidFill>
                  <a:srgbClr val="9AA4C4"/>
                </a:solidFill>
                <a:latin typeface="DM Sans"/>
              </a:rPr>
              <a:t>One command starts the database, the API and the website.</a:t>
            </a:r>
          </a:p>
        </p:txBody>
      </p:sp>
      <p:pic>
        <p:nvPicPr>
          <p:cNvPr id="7" name="Picture 6" descr="compose.png"/>
          <p:cNvPicPr>
            <a:picLocks noChangeAspect="1"/>
          </p:cNvPicPr>
          <p:nvPr/>
        </p:nvPicPr>
        <p:blipFill>
          <a:blip r:embed="rId3"/>
          <a:stretch>
            <a:fillRect/>
          </a:stretch>
        </p:blipFill>
        <p:spPr>
          <a:xfrm>
            <a:off x="365760" y="2468880"/>
            <a:ext cx="7315200" cy="2387736"/>
          </a:xfrm>
          <a:prstGeom prst="rect">
            <a:avLst/>
          </a:prstGeom>
        </p:spPr>
      </p:pic>
      <p:sp>
        <p:nvSpPr>
          <p:cNvPr id="8" name="Rounded Rectangle 7"/>
          <p:cNvSpPr/>
          <p:nvPr/>
        </p:nvSpPr>
        <p:spPr>
          <a:xfrm>
            <a:off x="7955279" y="2286000"/>
            <a:ext cx="3657600" cy="118872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79" y="2377440"/>
            <a:ext cx="3291840" cy="640080"/>
          </a:xfrm>
          <a:prstGeom prst="rect">
            <a:avLst/>
          </a:prstGeom>
          <a:noFill/>
        </p:spPr>
        <p:txBody>
          <a:bodyPr wrap="square" anchor="t" lIns="0" rIns="0" tIns="0" bIns="0">
            <a:spAutoFit/>
          </a:bodyPr>
          <a:lstStyle/>
          <a:p>
            <a:pPr algn="l">
              <a:lnSpc>
                <a:spcPct val="110000"/>
              </a:lnSpc>
            </a:pPr>
            <a:r>
              <a:rPr sz="3200" b="1">
                <a:solidFill>
                  <a:srgbClr val="C6FF3D"/>
                </a:solidFill>
                <a:latin typeface="Unbounded"/>
              </a:rPr>
              <a:t>3</a:t>
            </a:r>
          </a:p>
        </p:txBody>
      </p:sp>
      <p:sp>
        <p:nvSpPr>
          <p:cNvPr id="10" name="TextBox 9"/>
          <p:cNvSpPr txBox="1"/>
          <p:nvPr/>
        </p:nvSpPr>
        <p:spPr>
          <a:xfrm>
            <a:off x="8183879" y="2999232"/>
            <a:ext cx="3291840" cy="36576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services, in order</a:t>
            </a:r>
          </a:p>
        </p:txBody>
      </p:sp>
      <p:sp>
        <p:nvSpPr>
          <p:cNvPr id="11" name="Rounded Rectangle 10"/>
          <p:cNvSpPr/>
          <p:nvPr/>
        </p:nvSpPr>
        <p:spPr>
          <a:xfrm>
            <a:off x="7955279" y="3657600"/>
            <a:ext cx="3657600" cy="118872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3749039"/>
            <a:ext cx="3291840" cy="640080"/>
          </a:xfrm>
          <a:prstGeom prst="rect">
            <a:avLst/>
          </a:prstGeom>
          <a:noFill/>
        </p:spPr>
        <p:txBody>
          <a:bodyPr wrap="square" anchor="t" lIns="0" rIns="0" tIns="0" bIns="0">
            <a:spAutoFit/>
          </a:bodyPr>
          <a:lstStyle/>
          <a:p>
            <a:pPr algn="l">
              <a:lnSpc>
                <a:spcPct val="110000"/>
              </a:lnSpc>
            </a:pPr>
            <a:r>
              <a:rPr sz="3200" b="1">
                <a:solidFill>
                  <a:srgbClr val="22D3EE"/>
                </a:solidFill>
                <a:latin typeface="Unbounded"/>
              </a:rPr>
              <a:t>3 of 3</a:t>
            </a:r>
          </a:p>
        </p:txBody>
      </p:sp>
      <p:sp>
        <p:nvSpPr>
          <p:cNvPr id="13" name="TextBox 12"/>
          <p:cNvSpPr txBox="1"/>
          <p:nvPr/>
        </p:nvSpPr>
        <p:spPr>
          <a:xfrm>
            <a:off x="8183879" y="4370832"/>
            <a:ext cx="3291840" cy="36576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clean starts healthy</a:t>
            </a:r>
          </a:p>
        </p:txBody>
      </p:sp>
      <p:sp>
        <p:nvSpPr>
          <p:cNvPr id="14" name="Rounded Rectangle 13"/>
          <p:cNvSpPr/>
          <p:nvPr/>
        </p:nvSpPr>
        <p:spPr>
          <a:xfrm>
            <a:off x="7955279" y="5029200"/>
            <a:ext cx="3657600" cy="118872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5120640"/>
            <a:ext cx="3291840" cy="640080"/>
          </a:xfrm>
          <a:prstGeom prst="rect">
            <a:avLst/>
          </a:prstGeom>
          <a:noFill/>
        </p:spPr>
        <p:txBody>
          <a:bodyPr wrap="square" anchor="t" lIns="0" rIns="0" tIns="0" bIns="0">
            <a:spAutoFit/>
          </a:bodyPr>
          <a:lstStyle/>
          <a:p>
            <a:pPr algn="l">
              <a:lnSpc>
                <a:spcPct val="110000"/>
              </a:lnSpc>
            </a:pPr>
            <a:r>
              <a:rPr sz="3200" b="1">
                <a:solidFill>
                  <a:srgbClr val="2EE6A6"/>
                </a:solidFill>
                <a:latin typeface="Unbounded"/>
              </a:rPr>
              <a:t>0</a:t>
            </a:r>
          </a:p>
        </p:txBody>
      </p:sp>
      <p:sp>
        <p:nvSpPr>
          <p:cNvPr id="16" name="TextBox 15"/>
          <p:cNvSpPr txBox="1"/>
          <p:nvPr/>
        </p:nvSpPr>
        <p:spPr>
          <a:xfrm>
            <a:off x="8183879" y="5742432"/>
            <a:ext cx="3291840" cy="36576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records lost on restart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cyan.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591056" cy="402336"/>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591056"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05  TEST</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Tests</a:t>
            </a:r>
          </a:p>
        </p:txBody>
      </p:sp>
      <p:sp>
        <p:nvSpPr>
          <p:cNvPr id="6" name="TextBox 5"/>
          <p:cNvSpPr txBox="1"/>
          <p:nvPr/>
        </p:nvSpPr>
        <p:spPr>
          <a:xfrm>
            <a:off x="594360" y="2011680"/>
            <a:ext cx="4389120" cy="1737360"/>
          </a:xfrm>
          <a:prstGeom prst="rect">
            <a:avLst/>
          </a:prstGeom>
          <a:noFill/>
        </p:spPr>
        <p:txBody>
          <a:bodyPr wrap="square" anchor="t" lIns="0" rIns="0" tIns="0" bIns="0">
            <a:spAutoFit/>
          </a:bodyPr>
          <a:lstStyle/>
          <a:p>
            <a:pPr algn="l">
              <a:lnSpc>
                <a:spcPct val="110000"/>
              </a:lnSpc>
            </a:pPr>
            <a:r>
              <a:rPr sz="11000" b="1">
                <a:solidFill>
                  <a:srgbClr val="22D3EE"/>
                </a:solidFill>
                <a:latin typeface="Unbounded"/>
              </a:rPr>
              <a:t>32</a:t>
            </a:r>
          </a:p>
        </p:txBody>
      </p:sp>
      <p:sp>
        <p:nvSpPr>
          <p:cNvPr id="7" name="TextBox 6"/>
          <p:cNvSpPr txBox="1"/>
          <p:nvPr/>
        </p:nvSpPr>
        <p:spPr>
          <a:xfrm>
            <a:off x="594360" y="3657600"/>
            <a:ext cx="4389120" cy="457200"/>
          </a:xfrm>
          <a:prstGeom prst="rect">
            <a:avLst/>
          </a:prstGeom>
          <a:noFill/>
        </p:spPr>
        <p:txBody>
          <a:bodyPr wrap="square" anchor="t" lIns="0" rIns="0" tIns="0" bIns="0">
            <a:spAutoFit/>
          </a:bodyPr>
          <a:lstStyle/>
          <a:p>
            <a:pPr algn="l">
              <a:lnSpc>
                <a:spcPct val="110000"/>
              </a:lnSpc>
            </a:pPr>
            <a:r>
              <a:rPr sz="2800" b="1">
                <a:solidFill>
                  <a:srgbClr val="F5F7FA"/>
                </a:solidFill>
                <a:latin typeface="DM Sans"/>
              </a:rPr>
              <a:t>tests pass</a:t>
            </a:r>
          </a:p>
        </p:txBody>
      </p:sp>
      <p:sp>
        <p:nvSpPr>
          <p:cNvPr id="8" name="TextBox 7"/>
          <p:cNvSpPr txBox="1"/>
          <p:nvPr/>
        </p:nvSpPr>
        <p:spPr>
          <a:xfrm>
            <a:off x="594360" y="4389120"/>
            <a:ext cx="4206240" cy="146304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Checks wrong input, missing members and the expired plan rule.</a:t>
            </a:r>
          </a:p>
        </p:txBody>
      </p:sp>
      <p:pic>
        <p:nvPicPr>
          <p:cNvPr id="9" name="Picture 8" descr="pytest.png"/>
          <p:cNvPicPr>
            <a:picLocks noChangeAspect="1"/>
          </p:cNvPicPr>
          <p:nvPr/>
        </p:nvPicPr>
        <p:blipFill>
          <a:blip r:embed="rId3"/>
          <a:stretch>
            <a:fillRect/>
          </a:stretch>
        </p:blipFill>
        <p:spPr>
          <a:xfrm>
            <a:off x="5029200" y="1920240"/>
            <a:ext cx="6675120" cy="3780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li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591056" cy="402336"/>
          </a:xfrm>
          <a:prstGeom prst="roundRect">
            <a:avLst>
              <a:gd name="adj" fmla="val 50000"/>
            </a:avLst>
          </a:prstGeom>
          <a:solidFill>
            <a:srgbClr val="C6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591056"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06  CODE</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Git and GitHub</a:t>
            </a:r>
          </a:p>
        </p:txBody>
      </p:sp>
      <p:pic>
        <p:nvPicPr>
          <p:cNvPr id="6" name="Picture 5" descr="repo.png"/>
          <p:cNvPicPr>
            <a:picLocks noChangeAspect="1"/>
          </p:cNvPicPr>
          <p:nvPr/>
        </p:nvPicPr>
        <p:blipFill>
          <a:blip r:embed="rId3"/>
          <a:stretch>
            <a:fillRect/>
          </a:stretch>
        </p:blipFill>
        <p:spPr>
          <a:xfrm>
            <a:off x="274320" y="1691640"/>
            <a:ext cx="5943600" cy="3155047"/>
          </a:xfrm>
          <a:prstGeom prst="rect">
            <a:avLst/>
          </a:prstGeom>
        </p:spPr>
      </p:pic>
      <p:pic>
        <p:nvPicPr>
          <p:cNvPr id="7" name="Picture 6" descr="commits.png"/>
          <p:cNvPicPr>
            <a:picLocks noChangeAspect="1"/>
          </p:cNvPicPr>
          <p:nvPr/>
        </p:nvPicPr>
        <p:blipFill>
          <a:blip r:embed="rId4"/>
          <a:stretch>
            <a:fillRect/>
          </a:stretch>
        </p:blipFill>
        <p:spPr>
          <a:xfrm>
            <a:off x="5989320" y="1691640"/>
            <a:ext cx="5943600" cy="2995701"/>
          </a:xfrm>
          <a:prstGeom prst="rect">
            <a:avLst/>
          </a:prstGeom>
        </p:spPr>
      </p:pic>
      <p:sp>
        <p:nvSpPr>
          <p:cNvPr id="8" name="Rounded Rectangle 7"/>
          <p:cNvSpPr/>
          <p:nvPr/>
        </p:nvSpPr>
        <p:spPr>
          <a:xfrm>
            <a:off x="594360" y="5532120"/>
            <a:ext cx="2743200" cy="777240"/>
          </a:xfrm>
          <a:prstGeom prst="roundRect">
            <a:avLst>
              <a:gd name="adj" fmla="val 30000"/>
            </a:avLst>
          </a:prstGeom>
          <a:solidFill>
            <a:srgbClr val="C6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532120"/>
            <a:ext cx="2743200" cy="777240"/>
          </a:xfrm>
          <a:prstGeom prst="rect">
            <a:avLst/>
          </a:prstGeom>
          <a:noFill/>
        </p:spPr>
        <p:txBody>
          <a:bodyPr wrap="square" anchor="ctr" lIns="0" rIns="0" tIns="0" bIns="0">
            <a:spAutoFit/>
          </a:bodyPr>
          <a:lstStyle/>
          <a:p>
            <a:pPr algn="ctr">
              <a:lnSpc>
                <a:spcPct val="110000"/>
              </a:lnSpc>
            </a:pPr>
            <a:r>
              <a:rPr sz="2400" b="1">
                <a:solidFill>
                  <a:srgbClr val="0B1020"/>
                </a:solidFill>
                <a:latin typeface="Unbounded"/>
              </a:rPr>
              <a:t>100+ commits</a:t>
            </a:r>
          </a:p>
        </p:txBody>
      </p:sp>
      <p:sp>
        <p:nvSpPr>
          <p:cNvPr id="10" name="TextBox 9"/>
          <p:cNvSpPr txBox="1"/>
          <p:nvPr/>
        </p:nvSpPr>
        <p:spPr>
          <a:xfrm>
            <a:off x="3611880" y="5532120"/>
            <a:ext cx="8046720" cy="777240"/>
          </a:xfrm>
          <a:prstGeom prst="rect">
            <a:avLst/>
          </a:prstGeom>
          <a:noFill/>
        </p:spPr>
        <p:txBody>
          <a:bodyPr wrap="square" anchor="ctr" lIns="0" rIns="0" tIns="0" bIns="0">
            <a:spAutoFit/>
          </a:bodyPr>
          <a:lstStyle/>
          <a:p>
            <a:pPr algn="l">
              <a:lnSpc>
                <a:spcPct val="110000"/>
              </a:lnSpc>
            </a:pPr>
            <a:r>
              <a:rPr sz="2200" b="0">
                <a:solidFill>
                  <a:srgbClr val="F5F7FA"/>
                </a:solidFill>
                <a:latin typeface="DM Sans"/>
              </a:rPr>
              <a:t>Small commits, clear messages, no secrets in git.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pin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732788" cy="402336"/>
          </a:xfrm>
          <a:prstGeom prst="roundRect">
            <a:avLst>
              <a:gd name="adj" fmla="val 50000"/>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732788"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07  CI/CD</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The pipeline</a:t>
            </a:r>
          </a:p>
        </p:txBody>
      </p:sp>
      <p:pic>
        <p:nvPicPr>
          <p:cNvPr id="6" name="Picture 5" descr="pipeline.png"/>
          <p:cNvPicPr>
            <a:picLocks noChangeAspect="1"/>
          </p:cNvPicPr>
          <p:nvPr/>
        </p:nvPicPr>
        <p:blipFill>
          <a:blip r:embed="rId3"/>
          <a:stretch>
            <a:fillRect/>
          </a:stretch>
        </p:blipFill>
        <p:spPr>
          <a:xfrm>
            <a:off x="777240" y="1600200"/>
            <a:ext cx="10607040" cy="2828544"/>
          </a:xfrm>
          <a:prstGeom prst="rect">
            <a:avLst/>
          </a:prstGeom>
        </p:spPr>
      </p:pic>
      <p:pic>
        <p:nvPicPr>
          <p:cNvPr id="7" name="Picture 6" descr="run.png"/>
          <p:cNvPicPr>
            <a:picLocks noChangeAspect="1"/>
          </p:cNvPicPr>
          <p:nvPr/>
        </p:nvPicPr>
        <p:blipFill>
          <a:blip r:embed="rId4"/>
          <a:stretch>
            <a:fillRect/>
          </a:stretch>
        </p:blipFill>
        <p:spPr>
          <a:xfrm>
            <a:off x="320040" y="4434840"/>
            <a:ext cx="5510035" cy="2286000"/>
          </a:xfrm>
          <a:prstGeom prst="rect">
            <a:avLst/>
          </a:prstGeom>
        </p:spPr>
      </p:pic>
      <p:pic>
        <p:nvPicPr>
          <p:cNvPr id="8" name="Picture 7" descr="circle-check.png"/>
          <p:cNvPicPr>
            <a:picLocks noChangeAspect="1"/>
          </p:cNvPicPr>
          <p:nvPr/>
        </p:nvPicPr>
        <p:blipFill>
          <a:blip r:embed="rId5"/>
          <a:stretch>
            <a:fillRect/>
          </a:stretch>
        </p:blipFill>
        <p:spPr>
          <a:xfrm>
            <a:off x="6858000" y="4572000"/>
            <a:ext cx="502920" cy="502920"/>
          </a:xfrm>
          <a:prstGeom prst="rect">
            <a:avLst/>
          </a:prstGeom>
        </p:spPr>
      </p:pic>
      <p:sp>
        <p:nvSpPr>
          <p:cNvPr id="9" name="TextBox 8"/>
          <p:cNvSpPr txBox="1"/>
          <p:nvPr/>
        </p:nvSpPr>
        <p:spPr>
          <a:xfrm>
            <a:off x="7589520" y="4572000"/>
            <a:ext cx="4206240" cy="502920"/>
          </a:xfrm>
          <a:prstGeom prst="rect">
            <a:avLst/>
          </a:prstGeom>
          <a:noFill/>
        </p:spPr>
        <p:txBody>
          <a:bodyPr wrap="square" anchor="ctr" lIns="0" rIns="0" tIns="0" bIns="0">
            <a:spAutoFit/>
          </a:bodyPr>
          <a:lstStyle/>
          <a:p>
            <a:pPr algn="l">
              <a:lnSpc>
                <a:spcPct val="110000"/>
              </a:lnSpc>
            </a:pPr>
            <a:r>
              <a:rPr sz="2200" b="0">
                <a:solidFill>
                  <a:srgbClr val="F5F7FA"/>
                </a:solidFill>
                <a:latin typeface="DM Sans"/>
              </a:rPr>
              <a:t>Tests gate everything</a:t>
            </a:r>
          </a:p>
        </p:txBody>
      </p:sp>
      <p:pic>
        <p:nvPicPr>
          <p:cNvPr id="10" name="Picture 9" descr="shield.png"/>
          <p:cNvPicPr>
            <a:picLocks noChangeAspect="1"/>
          </p:cNvPicPr>
          <p:nvPr/>
        </p:nvPicPr>
        <p:blipFill>
          <a:blip r:embed="rId6"/>
          <a:stretch>
            <a:fillRect/>
          </a:stretch>
        </p:blipFill>
        <p:spPr>
          <a:xfrm>
            <a:off x="6858000" y="5303520"/>
            <a:ext cx="502920" cy="502920"/>
          </a:xfrm>
          <a:prstGeom prst="rect">
            <a:avLst/>
          </a:prstGeom>
        </p:spPr>
      </p:pic>
      <p:sp>
        <p:nvSpPr>
          <p:cNvPr id="11" name="TextBox 10"/>
          <p:cNvSpPr txBox="1"/>
          <p:nvPr/>
        </p:nvSpPr>
        <p:spPr>
          <a:xfrm>
            <a:off x="7589520" y="5303520"/>
            <a:ext cx="4206240" cy="502920"/>
          </a:xfrm>
          <a:prstGeom prst="rect">
            <a:avLst/>
          </a:prstGeom>
          <a:noFill/>
        </p:spPr>
        <p:txBody>
          <a:bodyPr wrap="square" anchor="ctr" lIns="0" rIns="0" tIns="0" bIns="0">
            <a:spAutoFit/>
          </a:bodyPr>
          <a:lstStyle/>
          <a:p>
            <a:pPr algn="l">
              <a:lnSpc>
                <a:spcPct val="110000"/>
              </a:lnSpc>
            </a:pPr>
            <a:r>
              <a:rPr sz="2200" b="0">
                <a:solidFill>
                  <a:srgbClr val="F5F7FA"/>
                </a:solidFill>
                <a:latin typeface="DM Sans"/>
              </a:rPr>
              <a:t>Scanned image is pushed</a:t>
            </a:r>
          </a:p>
        </p:txBody>
      </p:sp>
      <p:pic>
        <p:nvPicPr>
          <p:cNvPr id="12" name="Picture 11" descr="stage-deploy.png"/>
          <p:cNvPicPr>
            <a:picLocks noChangeAspect="1"/>
          </p:cNvPicPr>
          <p:nvPr/>
        </p:nvPicPr>
        <p:blipFill>
          <a:blip r:embed="rId7"/>
          <a:stretch>
            <a:fillRect/>
          </a:stretch>
        </p:blipFill>
        <p:spPr>
          <a:xfrm>
            <a:off x="6858000" y="6035040"/>
            <a:ext cx="502920" cy="502920"/>
          </a:xfrm>
          <a:prstGeom prst="rect">
            <a:avLst/>
          </a:prstGeom>
        </p:spPr>
      </p:pic>
      <p:sp>
        <p:nvSpPr>
          <p:cNvPr id="13" name="TextBox 12"/>
          <p:cNvSpPr txBox="1"/>
          <p:nvPr/>
        </p:nvSpPr>
        <p:spPr>
          <a:xfrm>
            <a:off x="7589520" y="6035040"/>
            <a:ext cx="4206240" cy="502920"/>
          </a:xfrm>
          <a:prstGeom prst="rect">
            <a:avLst/>
          </a:prstGeom>
          <a:noFill/>
        </p:spPr>
        <p:txBody>
          <a:bodyPr wrap="square" anchor="ctr" lIns="0" rIns="0" tIns="0" bIns="0">
            <a:spAutoFit/>
          </a:bodyPr>
          <a:lstStyle/>
          <a:p>
            <a:pPr algn="l">
              <a:lnSpc>
                <a:spcPct val="110000"/>
              </a:lnSpc>
            </a:pPr>
            <a:r>
              <a:rPr sz="2200" b="0">
                <a:solidFill>
                  <a:srgbClr val="F5F7FA"/>
                </a:solidFill>
                <a:latin typeface="DM Sans"/>
              </a:rPr>
              <a:t>Smoke test, then EKS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coral.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591056" cy="402336"/>
          </a:xfrm>
          <a:prstGeom prst="roundRect">
            <a:avLst>
              <a:gd name="adj" fmla="val 50000"/>
            </a:avLst>
          </a:prstGeom>
          <a:solidFill>
            <a:srgbClr val="FF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591056"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08  SCAN</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Security scan</a:t>
            </a:r>
          </a:p>
        </p:txBody>
      </p:sp>
      <p:sp>
        <p:nvSpPr>
          <p:cNvPr id="6" name="TextBox 5"/>
          <p:cNvSpPr txBox="1"/>
          <p:nvPr/>
        </p:nvSpPr>
        <p:spPr>
          <a:xfrm>
            <a:off x="594360" y="1737360"/>
            <a:ext cx="10972800" cy="411480"/>
          </a:xfrm>
          <a:prstGeom prst="rect">
            <a:avLst/>
          </a:prstGeom>
          <a:noFill/>
        </p:spPr>
        <p:txBody>
          <a:bodyPr wrap="square" anchor="t" lIns="0" rIns="0" tIns="0" bIns="0">
            <a:spAutoFit/>
          </a:bodyPr>
          <a:lstStyle/>
          <a:p>
            <a:pPr algn="l">
              <a:lnSpc>
                <a:spcPct val="110000"/>
              </a:lnSpc>
            </a:pPr>
            <a:r>
              <a:rPr sz="2000" b="0">
                <a:solidFill>
                  <a:srgbClr val="9AA4C4"/>
                </a:solidFill>
                <a:latin typeface="DM Sans"/>
              </a:rPr>
              <a:t>Trivy fails the build on fixable HIGH or CRITICAL issues.</a:t>
            </a:r>
          </a:p>
        </p:txBody>
      </p:sp>
      <p:pic>
        <p:nvPicPr>
          <p:cNvPr id="7" name="Picture 6" descr="red.png"/>
          <p:cNvPicPr>
            <a:picLocks noChangeAspect="1"/>
          </p:cNvPicPr>
          <p:nvPr/>
        </p:nvPicPr>
        <p:blipFill>
          <a:blip r:embed="rId3"/>
          <a:stretch>
            <a:fillRect/>
          </a:stretch>
        </p:blipFill>
        <p:spPr>
          <a:xfrm>
            <a:off x="1828800" y="2286000"/>
            <a:ext cx="2905760" cy="3566160"/>
          </a:xfrm>
          <a:prstGeom prst="rect">
            <a:avLst/>
          </a:prstGeom>
        </p:spPr>
      </p:pic>
      <p:sp>
        <p:nvSpPr>
          <p:cNvPr id="8" name="TextBox 7"/>
          <p:cNvSpPr txBox="1"/>
          <p:nvPr/>
        </p:nvSpPr>
        <p:spPr>
          <a:xfrm>
            <a:off x="685800" y="5852160"/>
            <a:ext cx="5303520" cy="457200"/>
          </a:xfrm>
          <a:prstGeom prst="rect">
            <a:avLst/>
          </a:prstGeom>
          <a:noFill/>
        </p:spPr>
        <p:txBody>
          <a:bodyPr wrap="square" anchor="t" lIns="0" rIns="0" tIns="0" bIns="0">
            <a:spAutoFit/>
          </a:bodyPr>
          <a:lstStyle/>
          <a:p>
            <a:pPr algn="l">
              <a:lnSpc>
                <a:spcPct val="110000"/>
              </a:lnSpc>
            </a:pPr>
            <a:r>
              <a:rPr sz="2000" b="1">
                <a:solidFill>
                  <a:srgbClr val="FF5D5D"/>
                </a:solidFill>
                <a:latin typeface="DM Sans"/>
              </a:rPr>
              <a:t>A bad image stops the pipeline</a:t>
            </a:r>
          </a:p>
        </p:txBody>
      </p:sp>
      <p:pic>
        <p:nvPicPr>
          <p:cNvPr id="9" name="Picture 8" descr="trivy.png"/>
          <p:cNvPicPr>
            <a:picLocks noChangeAspect="1"/>
          </p:cNvPicPr>
          <p:nvPr/>
        </p:nvPicPr>
        <p:blipFill>
          <a:blip r:embed="rId4"/>
          <a:stretch>
            <a:fillRect/>
          </a:stretch>
        </p:blipFill>
        <p:spPr>
          <a:xfrm>
            <a:off x="6126480" y="2286000"/>
            <a:ext cx="5852160" cy="1669042"/>
          </a:xfrm>
          <a:prstGeom prst="rect">
            <a:avLst/>
          </a:prstGeom>
        </p:spPr>
      </p:pic>
      <p:sp>
        <p:nvSpPr>
          <p:cNvPr id="10" name="TextBox 9"/>
          <p:cNvSpPr txBox="1"/>
          <p:nvPr/>
        </p:nvSpPr>
        <p:spPr>
          <a:xfrm>
            <a:off x="6583680" y="5852160"/>
            <a:ext cx="5303520" cy="457200"/>
          </a:xfrm>
          <a:prstGeom prst="rect">
            <a:avLst/>
          </a:prstGeom>
          <a:noFill/>
        </p:spPr>
        <p:txBody>
          <a:bodyPr wrap="square" anchor="t" lIns="0" rIns="0" tIns="0" bIns="0">
            <a:spAutoFit/>
          </a:bodyPr>
          <a:lstStyle/>
          <a:p>
            <a:pPr algn="l">
              <a:lnSpc>
                <a:spcPct val="110000"/>
              </a:lnSpc>
            </a:pPr>
            <a:r>
              <a:rPr sz="2000" b="1">
                <a:solidFill>
                  <a:srgbClr val="2EE6A6"/>
                </a:solidFill>
                <a:latin typeface="DM Sans"/>
              </a:rPr>
              <a:t>My real images: 0 findings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li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157984" cy="402336"/>
          </a:xfrm>
          <a:prstGeom prst="roundRect">
            <a:avLst>
              <a:gd name="adj" fmla="val 50000"/>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157984"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09  REGISTRY</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Container registry</a:t>
            </a:r>
          </a:p>
        </p:txBody>
      </p:sp>
      <p:pic>
        <p:nvPicPr>
          <p:cNvPr id="6" name="Picture 5" descr="ghcr.png"/>
          <p:cNvPicPr>
            <a:picLocks noChangeAspect="1"/>
          </p:cNvPicPr>
          <p:nvPr/>
        </p:nvPicPr>
        <p:blipFill>
          <a:blip r:embed="rId3"/>
          <a:stretch>
            <a:fillRect/>
          </a:stretch>
        </p:blipFill>
        <p:spPr>
          <a:xfrm>
            <a:off x="320040" y="1828800"/>
            <a:ext cx="6949440" cy="2601047"/>
          </a:xfrm>
          <a:prstGeom prst="rect">
            <a:avLst/>
          </a:prstGeom>
        </p:spPr>
      </p:pic>
      <p:pic>
        <p:nvPicPr>
          <p:cNvPr id="7" name="Picture 6" descr="package.png"/>
          <p:cNvPicPr>
            <a:picLocks noChangeAspect="1"/>
          </p:cNvPicPr>
          <p:nvPr/>
        </p:nvPicPr>
        <p:blipFill>
          <a:blip r:embed="rId4"/>
          <a:stretch>
            <a:fillRect/>
          </a:stretch>
        </p:blipFill>
        <p:spPr>
          <a:xfrm>
            <a:off x="7772400" y="2286000"/>
            <a:ext cx="640080" cy="640080"/>
          </a:xfrm>
          <a:prstGeom prst="rect">
            <a:avLst/>
          </a:prstGeom>
        </p:spPr>
      </p:pic>
      <p:sp>
        <p:nvSpPr>
          <p:cNvPr id="8" name="TextBox 7"/>
          <p:cNvSpPr txBox="1"/>
          <p:nvPr/>
        </p:nvSpPr>
        <p:spPr>
          <a:xfrm>
            <a:off x="8641080" y="2286000"/>
            <a:ext cx="347472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Tagged by commit</a:t>
            </a:r>
          </a:p>
        </p:txBody>
      </p:sp>
      <p:pic>
        <p:nvPicPr>
          <p:cNvPr id="9" name="Picture 8" descr="lock.png"/>
          <p:cNvPicPr>
            <a:picLocks noChangeAspect="1"/>
          </p:cNvPicPr>
          <p:nvPr/>
        </p:nvPicPr>
        <p:blipFill>
          <a:blip r:embed="rId5"/>
          <a:stretch>
            <a:fillRect/>
          </a:stretch>
        </p:blipFill>
        <p:spPr>
          <a:xfrm>
            <a:off x="7772400" y="3291840"/>
            <a:ext cx="640080" cy="640080"/>
          </a:xfrm>
          <a:prstGeom prst="rect">
            <a:avLst/>
          </a:prstGeom>
        </p:spPr>
      </p:pic>
      <p:sp>
        <p:nvSpPr>
          <p:cNvPr id="10" name="TextBox 9"/>
          <p:cNvSpPr txBox="1"/>
          <p:nvPr/>
        </p:nvSpPr>
        <p:spPr>
          <a:xfrm>
            <a:off x="8641080" y="3291840"/>
            <a:ext cx="3474720" cy="640080"/>
          </a:xfrm>
          <a:prstGeom prst="rect">
            <a:avLst/>
          </a:prstGeom>
          <a:noFill/>
        </p:spPr>
        <p:txBody>
          <a:bodyPr wrap="square" anchor="ctr" lIns="0" rIns="0" tIns="0" bIns="0">
            <a:spAutoFit/>
          </a:bodyPr>
          <a:lstStyle/>
          <a:p>
            <a:pPr algn="l">
              <a:lnSpc>
                <a:spcPct val="110000"/>
              </a:lnSpc>
            </a:pPr>
            <a:r>
              <a:rPr sz="2000" b="0">
                <a:solidFill>
                  <a:srgbClr val="F5F7FA"/>
                </a:solidFill>
                <a:latin typeface="DM Sans"/>
              </a:rPr>
              <a:t>Built-in GITHUB_TOKEN</a:t>
            </a:r>
          </a:p>
        </p:txBody>
      </p:sp>
      <p:pic>
        <p:nvPicPr>
          <p:cNvPr id="11" name="Picture 10" descr="globe.png"/>
          <p:cNvPicPr>
            <a:picLocks noChangeAspect="1"/>
          </p:cNvPicPr>
          <p:nvPr/>
        </p:nvPicPr>
        <p:blipFill>
          <a:blip r:embed="rId6"/>
          <a:stretch>
            <a:fillRect/>
          </a:stretch>
        </p:blipFill>
        <p:spPr>
          <a:xfrm>
            <a:off x="7772400" y="4297680"/>
            <a:ext cx="640080" cy="640080"/>
          </a:xfrm>
          <a:prstGeom prst="rect">
            <a:avLst/>
          </a:prstGeom>
        </p:spPr>
      </p:pic>
      <p:sp>
        <p:nvSpPr>
          <p:cNvPr id="12" name="TextBox 11"/>
          <p:cNvSpPr txBox="1"/>
          <p:nvPr/>
        </p:nvSpPr>
        <p:spPr>
          <a:xfrm>
            <a:off x="8641080" y="4297680"/>
            <a:ext cx="347472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Public packages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viole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299716" cy="402336"/>
          </a:xfrm>
          <a:prstGeom prst="roundRect">
            <a:avLst>
              <a:gd name="adj" fmla="val 50000"/>
            </a:avLst>
          </a:prstGeom>
          <a:solidFill>
            <a:srgbClr val="7C4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299716" cy="402336"/>
          </a:xfrm>
          <a:prstGeom prst="rect">
            <a:avLst/>
          </a:prstGeom>
          <a:noFill/>
        </p:spPr>
        <p:txBody>
          <a:bodyPr wrap="square" anchor="ctr" lIns="0" rIns="0" tIns="0" bIns="0">
            <a:spAutoFit/>
          </a:bodyPr>
          <a:lstStyle/>
          <a:p>
            <a:pPr algn="ctr">
              <a:lnSpc>
                <a:spcPct val="110000"/>
              </a:lnSpc>
            </a:pPr>
            <a:r>
              <a:rPr sz="1800" b="1">
                <a:solidFill>
                  <a:srgbClr val="F5F7FA"/>
                </a:solidFill>
                <a:latin typeface="DM Sans"/>
              </a:rPr>
              <a:t>10  PROVISION</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Terraform on AWS</a:t>
            </a:r>
          </a:p>
        </p:txBody>
      </p:sp>
      <p:sp>
        <p:nvSpPr>
          <p:cNvPr id="6" name="TextBox 5"/>
          <p:cNvSpPr txBox="1"/>
          <p:nvPr/>
        </p:nvSpPr>
        <p:spPr>
          <a:xfrm>
            <a:off x="594360" y="1920240"/>
            <a:ext cx="4572000" cy="1463040"/>
          </a:xfrm>
          <a:prstGeom prst="rect">
            <a:avLst/>
          </a:prstGeom>
          <a:noFill/>
        </p:spPr>
        <p:txBody>
          <a:bodyPr wrap="square" anchor="t" lIns="0" rIns="0" tIns="0" bIns="0">
            <a:spAutoFit/>
          </a:bodyPr>
          <a:lstStyle/>
          <a:p>
            <a:pPr algn="l">
              <a:lnSpc>
                <a:spcPct val="110000"/>
              </a:lnSpc>
            </a:pPr>
            <a:r>
              <a:rPr sz="11000" b="1">
                <a:solidFill>
                  <a:srgbClr val="B7A0FF"/>
                </a:solidFill>
                <a:latin typeface="Unbounded"/>
              </a:rPr>
              <a:t>62</a:t>
            </a:r>
          </a:p>
        </p:txBody>
      </p:sp>
      <p:sp>
        <p:nvSpPr>
          <p:cNvPr id="7" name="TextBox 6"/>
          <p:cNvSpPr txBox="1"/>
          <p:nvPr/>
        </p:nvSpPr>
        <p:spPr>
          <a:xfrm>
            <a:off x="594360" y="3657600"/>
            <a:ext cx="4572000" cy="457200"/>
          </a:xfrm>
          <a:prstGeom prst="rect">
            <a:avLst/>
          </a:prstGeom>
          <a:noFill/>
        </p:spPr>
        <p:txBody>
          <a:bodyPr wrap="square" anchor="t" lIns="0" rIns="0" tIns="0" bIns="0">
            <a:spAutoFit/>
          </a:bodyPr>
          <a:lstStyle/>
          <a:p>
            <a:pPr algn="l">
              <a:lnSpc>
                <a:spcPct val="110000"/>
              </a:lnSpc>
            </a:pPr>
            <a:r>
              <a:rPr sz="2600" b="1">
                <a:solidFill>
                  <a:srgbClr val="F5F7FA"/>
                </a:solidFill>
                <a:latin typeface="DM Sans"/>
              </a:rPr>
              <a:t>resources from one plan</a:t>
            </a:r>
          </a:p>
        </p:txBody>
      </p:sp>
      <p:sp>
        <p:nvSpPr>
          <p:cNvPr id="8" name="TextBox 7"/>
          <p:cNvSpPr txBox="1"/>
          <p:nvPr/>
        </p:nvSpPr>
        <p:spPr>
          <a:xfrm>
            <a:off x="594360" y="4389120"/>
            <a:ext cx="4206240" cy="146304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Code builds the network, the cluster and the GitHub sign-in.</a:t>
            </a:r>
          </a:p>
        </p:txBody>
      </p:sp>
      <p:pic>
        <p:nvPicPr>
          <p:cNvPr id="9" name="Picture 8" descr="terraform.png"/>
          <p:cNvPicPr>
            <a:picLocks noChangeAspect="1"/>
          </p:cNvPicPr>
          <p:nvPr/>
        </p:nvPicPr>
        <p:blipFill>
          <a:blip r:embed="rId3"/>
          <a:stretch>
            <a:fillRect/>
          </a:stretch>
        </p:blipFill>
        <p:spPr>
          <a:xfrm>
            <a:off x="5120640" y="1920240"/>
            <a:ext cx="6675120" cy="248878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pin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874519" cy="402336"/>
          </a:xfrm>
          <a:prstGeom prst="roundRect">
            <a:avLst>
              <a:gd name="adj" fmla="val 50000"/>
            </a:avLst>
          </a:prstGeom>
          <a:solidFill>
            <a:srgbClr val="FF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874519"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11  DEPLOY</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Kubernetes and Helm</a:t>
            </a:r>
          </a:p>
        </p:txBody>
      </p:sp>
      <p:pic>
        <p:nvPicPr>
          <p:cNvPr id="6" name="Picture 5" descr="k8s.png"/>
          <p:cNvPicPr>
            <a:picLocks noChangeAspect="1"/>
          </p:cNvPicPr>
          <p:nvPr/>
        </p:nvPicPr>
        <p:blipFill>
          <a:blip r:embed="rId3"/>
          <a:stretch>
            <a:fillRect/>
          </a:stretch>
        </p:blipFill>
        <p:spPr>
          <a:xfrm>
            <a:off x="320040" y="1828800"/>
            <a:ext cx="6201294" cy="4206240"/>
          </a:xfrm>
          <a:prstGeom prst="rect">
            <a:avLst/>
          </a:prstGeom>
        </p:spPr>
      </p:pic>
      <p:pic>
        <p:nvPicPr>
          <p:cNvPr id="7" name="Picture 6" descr="boxes.png"/>
          <p:cNvPicPr>
            <a:picLocks noChangeAspect="1"/>
          </p:cNvPicPr>
          <p:nvPr/>
        </p:nvPicPr>
        <p:blipFill>
          <a:blip r:embed="rId4"/>
          <a:stretch>
            <a:fillRect/>
          </a:stretch>
        </p:blipFill>
        <p:spPr>
          <a:xfrm>
            <a:off x="7863840" y="2103120"/>
            <a:ext cx="640080" cy="640080"/>
          </a:xfrm>
          <a:prstGeom prst="rect">
            <a:avLst/>
          </a:prstGeom>
        </p:spPr>
      </p:pic>
      <p:sp>
        <p:nvSpPr>
          <p:cNvPr id="8" name="TextBox 7"/>
          <p:cNvSpPr txBox="1"/>
          <p:nvPr/>
        </p:nvSpPr>
        <p:spPr>
          <a:xfrm>
            <a:off x="8732519" y="2103120"/>
            <a:ext cx="356616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5 pods, 3 services</a:t>
            </a:r>
          </a:p>
        </p:txBody>
      </p:sp>
      <p:pic>
        <p:nvPicPr>
          <p:cNvPr id="9" name="Picture 8" descr="layers.png"/>
          <p:cNvPicPr>
            <a:picLocks noChangeAspect="1"/>
          </p:cNvPicPr>
          <p:nvPr/>
        </p:nvPicPr>
        <p:blipFill>
          <a:blip r:embed="rId5"/>
          <a:stretch>
            <a:fillRect/>
          </a:stretch>
        </p:blipFill>
        <p:spPr>
          <a:xfrm>
            <a:off x="7863840" y="3291840"/>
            <a:ext cx="640080" cy="640080"/>
          </a:xfrm>
          <a:prstGeom prst="rect">
            <a:avLst/>
          </a:prstGeom>
        </p:spPr>
      </p:pic>
      <p:sp>
        <p:nvSpPr>
          <p:cNvPr id="10" name="TextBox 9"/>
          <p:cNvSpPr txBox="1"/>
          <p:nvPr/>
        </p:nvSpPr>
        <p:spPr>
          <a:xfrm>
            <a:off x="8732519" y="3291840"/>
            <a:ext cx="3566160" cy="640080"/>
          </a:xfrm>
          <a:prstGeom prst="rect">
            <a:avLst/>
          </a:prstGeom>
          <a:noFill/>
        </p:spPr>
        <p:txBody>
          <a:bodyPr wrap="square" anchor="ctr" lIns="0" rIns="0" tIns="0" bIns="0">
            <a:spAutoFit/>
          </a:bodyPr>
          <a:lstStyle/>
          <a:p>
            <a:pPr algn="l">
              <a:lnSpc>
                <a:spcPct val="110000"/>
              </a:lnSpc>
            </a:pPr>
            <a:r>
              <a:rPr sz="2400" b="0">
                <a:solidFill>
                  <a:srgbClr val="F5F7FA"/>
                </a:solidFill>
                <a:latin typeface="DM Sans"/>
              </a:rPr>
              <a:t>One Helm chart</a:t>
            </a:r>
          </a:p>
        </p:txBody>
      </p:sp>
      <p:pic>
        <p:nvPicPr>
          <p:cNvPr id="11" name="Picture 10" descr="rotate-ccw.png"/>
          <p:cNvPicPr>
            <a:picLocks noChangeAspect="1"/>
          </p:cNvPicPr>
          <p:nvPr/>
        </p:nvPicPr>
        <p:blipFill>
          <a:blip r:embed="rId6"/>
          <a:stretch>
            <a:fillRect/>
          </a:stretch>
        </p:blipFill>
        <p:spPr>
          <a:xfrm>
            <a:off x="7863840" y="4480560"/>
            <a:ext cx="640080" cy="640080"/>
          </a:xfrm>
          <a:prstGeom prst="rect">
            <a:avLst/>
          </a:prstGeom>
        </p:spPr>
      </p:pic>
      <p:sp>
        <p:nvSpPr>
          <p:cNvPr id="12" name="TextBox 11"/>
          <p:cNvSpPr txBox="1"/>
          <p:nvPr/>
        </p:nvSpPr>
        <p:spPr>
          <a:xfrm>
            <a:off x="8732519" y="4480560"/>
            <a:ext cx="3566160" cy="640080"/>
          </a:xfrm>
          <a:prstGeom prst="rect">
            <a:avLst/>
          </a:prstGeom>
          <a:noFill/>
        </p:spPr>
        <p:txBody>
          <a:bodyPr wrap="square" anchor="ctr" lIns="0" rIns="0" tIns="0" bIns="0">
            <a:spAutoFit/>
          </a:bodyPr>
          <a:lstStyle/>
          <a:p>
            <a:pPr algn="l">
              <a:lnSpc>
                <a:spcPct val="110000"/>
              </a:lnSpc>
            </a:pPr>
            <a:r>
              <a:rPr sz="2000" b="0">
                <a:solidFill>
                  <a:srgbClr val="F5F7FA"/>
                </a:solidFill>
                <a:latin typeface="DM Sans"/>
              </a:rPr>
              <a:t>Rollback in one command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pin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874519" cy="402336"/>
          </a:xfrm>
          <a:prstGeom prst="roundRect">
            <a:avLst>
              <a:gd name="adj" fmla="val 50000"/>
            </a:avLst>
          </a:prstGeom>
          <a:solidFill>
            <a:srgbClr val="FF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874519"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12  DEPLOY</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Ingress</a:t>
            </a:r>
          </a:p>
        </p:txBody>
      </p:sp>
      <p:pic>
        <p:nvPicPr>
          <p:cNvPr id="6" name="Picture 5" descr="ingress.png"/>
          <p:cNvPicPr>
            <a:picLocks noChangeAspect="1"/>
          </p:cNvPicPr>
          <p:nvPr/>
        </p:nvPicPr>
        <p:blipFill>
          <a:blip r:embed="rId3"/>
          <a:stretch>
            <a:fillRect/>
          </a:stretch>
        </p:blipFill>
        <p:spPr>
          <a:xfrm>
            <a:off x="411480" y="1828800"/>
            <a:ext cx="5760720" cy="1219917"/>
          </a:xfrm>
          <a:prstGeom prst="rect">
            <a:avLst/>
          </a:prstGeom>
        </p:spPr>
      </p:pic>
      <p:sp>
        <p:nvSpPr>
          <p:cNvPr id="7" name="TextBox 6"/>
          <p:cNvSpPr txBox="1"/>
          <p:nvPr/>
        </p:nvSpPr>
        <p:spPr>
          <a:xfrm>
            <a:off x="594360" y="3657600"/>
            <a:ext cx="5394960" cy="1645920"/>
          </a:xfrm>
          <a:prstGeom prst="rect">
            <a:avLst/>
          </a:prstGeom>
          <a:noFill/>
        </p:spPr>
        <p:txBody>
          <a:bodyPr wrap="square" anchor="t" lIns="0" rIns="0" tIns="0" bIns="0">
            <a:spAutoFit/>
          </a:bodyPr>
          <a:lstStyle/>
          <a:p>
            <a:pPr algn="l">
              <a:lnSpc>
                <a:spcPct val="110000"/>
              </a:lnSpc>
            </a:pPr>
            <a:r>
              <a:rPr sz="2800" b="1">
                <a:solidFill>
                  <a:srgbClr val="F5F7FA"/>
                </a:solidFill>
                <a:latin typeface="DM Sans"/>
              </a:rPr>
              <a:t>One address for the whole app.</a:t>
            </a:r>
          </a:p>
        </p:txBody>
      </p:sp>
      <p:sp>
        <p:nvSpPr>
          <p:cNvPr id="8" name="TextBox 7"/>
          <p:cNvSpPr txBox="1"/>
          <p:nvPr/>
        </p:nvSpPr>
        <p:spPr>
          <a:xfrm>
            <a:off x="594360" y="4754880"/>
            <a:ext cx="5394960" cy="146304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Traefik replaced ingress-nginx, which is retired.</a:t>
            </a:r>
          </a:p>
        </p:txBody>
      </p:sp>
      <p:pic>
        <p:nvPicPr>
          <p:cNvPr id="9" name="Picture 8" descr="ingress.png"/>
          <p:cNvPicPr>
            <a:picLocks noChangeAspect="1"/>
          </p:cNvPicPr>
          <p:nvPr/>
        </p:nvPicPr>
        <p:blipFill>
          <a:blip r:embed="rId4"/>
          <a:stretch>
            <a:fillRect/>
          </a:stretch>
        </p:blipFill>
        <p:spPr>
          <a:xfrm>
            <a:off x="6309360" y="1783080"/>
            <a:ext cx="5669280" cy="3526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pin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1874519" cy="402336"/>
          </a:xfrm>
          <a:prstGeom prst="roundRect">
            <a:avLst>
              <a:gd name="adj" fmla="val 50000"/>
            </a:avLst>
          </a:prstGeom>
          <a:solidFill>
            <a:srgbClr val="FF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1874519"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13  DEPLOY</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Autoscaling</a:t>
            </a:r>
          </a:p>
        </p:txBody>
      </p:sp>
      <p:sp>
        <p:nvSpPr>
          <p:cNvPr id="6" name="TextBox 5"/>
          <p:cNvSpPr txBox="1"/>
          <p:nvPr/>
        </p:nvSpPr>
        <p:spPr>
          <a:xfrm>
            <a:off x="594360" y="1920240"/>
            <a:ext cx="4754880" cy="1280160"/>
          </a:xfrm>
          <a:prstGeom prst="rect">
            <a:avLst/>
          </a:prstGeom>
          <a:noFill/>
        </p:spPr>
        <p:txBody>
          <a:bodyPr wrap="square" anchor="t" lIns="0" rIns="0" tIns="0" bIns="0">
            <a:spAutoFit/>
          </a:bodyPr>
          <a:lstStyle/>
          <a:p>
            <a:pPr algn="l">
              <a:lnSpc>
                <a:spcPct val="110000"/>
              </a:lnSpc>
            </a:pPr>
            <a:r>
              <a:rPr sz="7200" b="1">
                <a:solidFill>
                  <a:srgbClr val="FF6BD6"/>
                </a:solidFill>
                <a:latin typeface="Unbounded"/>
              </a:rPr>
              <a:t>2 to 6</a:t>
            </a:r>
          </a:p>
        </p:txBody>
      </p:sp>
      <p:sp>
        <p:nvSpPr>
          <p:cNvPr id="7" name="TextBox 6"/>
          <p:cNvSpPr txBox="1"/>
          <p:nvPr/>
        </p:nvSpPr>
        <p:spPr>
          <a:xfrm>
            <a:off x="594360" y="3246120"/>
            <a:ext cx="4572000" cy="457200"/>
          </a:xfrm>
          <a:prstGeom prst="rect">
            <a:avLst/>
          </a:prstGeom>
          <a:noFill/>
        </p:spPr>
        <p:txBody>
          <a:bodyPr wrap="square" anchor="t" lIns="0" rIns="0" tIns="0" bIns="0">
            <a:spAutoFit/>
          </a:bodyPr>
          <a:lstStyle/>
          <a:p>
            <a:pPr algn="l">
              <a:lnSpc>
                <a:spcPct val="110000"/>
              </a:lnSpc>
            </a:pPr>
            <a:r>
              <a:rPr sz="2600" b="1">
                <a:solidFill>
                  <a:srgbClr val="F5F7FA"/>
                </a:solidFill>
                <a:latin typeface="DM Sans"/>
              </a:rPr>
              <a:t>backend pods under load</a:t>
            </a:r>
          </a:p>
        </p:txBody>
      </p:sp>
      <p:sp>
        <p:nvSpPr>
          <p:cNvPr id="8" name="TextBox 7"/>
          <p:cNvSpPr txBox="1"/>
          <p:nvPr/>
        </p:nvSpPr>
        <p:spPr>
          <a:xfrm>
            <a:off x="594360" y="4023360"/>
            <a:ext cx="4206240" cy="146304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The load script raises CPU. The autoscaler adds pods.</a:t>
            </a:r>
          </a:p>
        </p:txBody>
      </p:sp>
      <p:sp>
        <p:nvSpPr>
          <p:cNvPr id="9" name="TextBox 8"/>
          <p:cNvSpPr txBox="1"/>
          <p:nvPr/>
        </p:nvSpPr>
        <p:spPr>
          <a:xfrm>
            <a:off x="5760720" y="1737360"/>
            <a:ext cx="2743200" cy="365760"/>
          </a:xfrm>
          <a:prstGeom prst="rect">
            <a:avLst/>
          </a:prstGeom>
          <a:noFill/>
        </p:spPr>
        <p:txBody>
          <a:bodyPr wrap="square" anchor="t" lIns="0" rIns="0" tIns="0" bIns="0">
            <a:spAutoFit/>
          </a:bodyPr>
          <a:lstStyle/>
          <a:p>
            <a:pPr algn="l">
              <a:lnSpc>
                <a:spcPct val="110000"/>
              </a:lnSpc>
            </a:pPr>
            <a:r>
              <a:rPr sz="1800" b="1">
                <a:solidFill>
                  <a:srgbClr val="9AA4C4"/>
                </a:solidFill>
                <a:latin typeface="DM Sans"/>
              </a:rPr>
              <a:t>Before the load</a:t>
            </a:r>
          </a:p>
        </p:txBody>
      </p:sp>
      <p:pic>
        <p:nvPicPr>
          <p:cNvPr id="10" name="Picture 9" descr="hpa-before.png"/>
          <p:cNvPicPr>
            <a:picLocks noChangeAspect="1"/>
          </p:cNvPicPr>
          <p:nvPr/>
        </p:nvPicPr>
        <p:blipFill>
          <a:blip r:embed="rId3"/>
          <a:stretch>
            <a:fillRect/>
          </a:stretch>
        </p:blipFill>
        <p:spPr>
          <a:xfrm>
            <a:off x="5394960" y="2011680"/>
            <a:ext cx="6309360" cy="1264802"/>
          </a:xfrm>
          <a:prstGeom prst="rect">
            <a:avLst/>
          </a:prstGeom>
        </p:spPr>
      </p:pic>
      <p:sp>
        <p:nvSpPr>
          <p:cNvPr id="11" name="TextBox 10"/>
          <p:cNvSpPr txBox="1"/>
          <p:nvPr/>
        </p:nvSpPr>
        <p:spPr>
          <a:xfrm>
            <a:off x="5760720" y="3611880"/>
            <a:ext cx="3200400" cy="365760"/>
          </a:xfrm>
          <a:prstGeom prst="rect">
            <a:avLst/>
          </a:prstGeom>
          <a:noFill/>
        </p:spPr>
        <p:txBody>
          <a:bodyPr wrap="square" anchor="t" lIns="0" rIns="0" tIns="0" bIns="0">
            <a:spAutoFit/>
          </a:bodyPr>
          <a:lstStyle/>
          <a:p>
            <a:pPr algn="l">
              <a:lnSpc>
                <a:spcPct val="110000"/>
              </a:lnSpc>
            </a:pPr>
            <a:r>
              <a:rPr sz="1800" b="1">
                <a:solidFill>
                  <a:srgbClr val="FF6BD6"/>
                </a:solidFill>
                <a:latin typeface="DM Sans"/>
              </a:rPr>
              <a:t>During the load</a:t>
            </a:r>
          </a:p>
        </p:txBody>
      </p:sp>
      <p:pic>
        <p:nvPicPr>
          <p:cNvPr id="12" name="Picture 11" descr="hpa-during.png"/>
          <p:cNvPicPr>
            <a:picLocks noChangeAspect="1"/>
          </p:cNvPicPr>
          <p:nvPr/>
        </p:nvPicPr>
        <p:blipFill>
          <a:blip r:embed="rId4"/>
          <a:stretch>
            <a:fillRect/>
          </a:stretch>
        </p:blipFill>
        <p:spPr>
          <a:xfrm>
            <a:off x="5394960" y="3886200"/>
            <a:ext cx="6309360" cy="139177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min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016252" cy="402336"/>
          </a:xfrm>
          <a:prstGeom prst="roundRect">
            <a:avLst>
              <a:gd name="adj" fmla="val 50000"/>
            </a:avLst>
          </a:prstGeom>
          <a:solidFill>
            <a:srgbClr val="2EE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016252"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14  MONITOR</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Monitoring</a:t>
            </a:r>
          </a:p>
        </p:txBody>
      </p:sp>
      <p:pic>
        <p:nvPicPr>
          <p:cNvPr id="6" name="Picture 5" descr="grafana.png"/>
          <p:cNvPicPr>
            <a:picLocks noChangeAspect="1"/>
          </p:cNvPicPr>
          <p:nvPr/>
        </p:nvPicPr>
        <p:blipFill>
          <a:blip r:embed="rId3"/>
          <a:stretch>
            <a:fillRect/>
          </a:stretch>
        </p:blipFill>
        <p:spPr>
          <a:xfrm>
            <a:off x="274320" y="1783080"/>
            <a:ext cx="6858000" cy="4661027"/>
          </a:xfrm>
          <a:prstGeom prst="rect">
            <a:avLst/>
          </a:prstGeom>
        </p:spPr>
      </p:pic>
      <p:pic>
        <p:nvPicPr>
          <p:cNvPr id="7" name="Picture 6" descr="prom.png"/>
          <p:cNvPicPr>
            <a:picLocks noChangeAspect="1"/>
          </p:cNvPicPr>
          <p:nvPr/>
        </p:nvPicPr>
        <p:blipFill>
          <a:blip r:embed="rId4"/>
          <a:stretch>
            <a:fillRect/>
          </a:stretch>
        </p:blipFill>
        <p:spPr>
          <a:xfrm>
            <a:off x="7178040" y="1783080"/>
            <a:ext cx="4754880" cy="2268132"/>
          </a:xfrm>
          <a:prstGeom prst="rect">
            <a:avLst/>
          </a:prstGeom>
        </p:spPr>
      </p:pic>
      <p:sp>
        <p:nvSpPr>
          <p:cNvPr id="8" name="TextBox 7"/>
          <p:cNvSpPr txBox="1"/>
          <p:nvPr/>
        </p:nvSpPr>
        <p:spPr>
          <a:xfrm>
            <a:off x="7498079" y="4526280"/>
            <a:ext cx="4206240" cy="1645920"/>
          </a:xfrm>
          <a:prstGeom prst="rect">
            <a:avLst/>
          </a:prstGeom>
          <a:noFill/>
        </p:spPr>
        <p:txBody>
          <a:bodyPr wrap="square" anchor="t" lIns="0" rIns="0" tIns="0" bIns="0">
            <a:spAutoFit/>
          </a:bodyPr>
          <a:lstStyle/>
          <a:p>
            <a:pPr algn="l">
              <a:lnSpc>
                <a:spcPct val="110000"/>
              </a:lnSpc>
            </a:pPr>
            <a:r>
              <a:rPr sz="2200" b="0">
                <a:solidFill>
                  <a:srgbClr val="F5F7FA"/>
                </a:solidFill>
                <a:latin typeface="DM Sans"/>
              </a:rPr>
              <a:t>Prometheus scrapes the backend. Grafana shows rate, latency and errors.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coral.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157984" cy="402336"/>
          </a:xfrm>
          <a:prstGeom prst="roundRect">
            <a:avLst>
              <a:gd name="adj" fmla="val 50000"/>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157984" cy="402336"/>
          </a:xfrm>
          <a:prstGeom prst="rect">
            <a:avLst/>
          </a:prstGeom>
          <a:noFill/>
        </p:spPr>
        <p:txBody>
          <a:bodyPr wrap="square" anchor="ctr" lIns="0" rIns="0" tIns="0" bIns="0">
            <a:spAutoFit/>
          </a:bodyPr>
          <a:lstStyle/>
          <a:p>
            <a:pPr algn="ctr">
              <a:lnSpc>
                <a:spcPct val="110000"/>
              </a:lnSpc>
            </a:pPr>
            <a:r>
              <a:rPr sz="1800" b="1">
                <a:solidFill>
                  <a:srgbClr val="0B1020"/>
                </a:solidFill>
                <a:latin typeface="DM Sans"/>
              </a:rPr>
              <a:t>15  PRACTICE</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Troubleshooting</a:t>
            </a:r>
          </a:p>
        </p:txBody>
      </p:sp>
      <p:sp>
        <p:nvSpPr>
          <p:cNvPr id="6" name="Rounded Rectangle 5"/>
          <p:cNvSpPr/>
          <p:nvPr/>
        </p:nvSpPr>
        <p:spPr>
          <a:xfrm>
            <a:off x="594360" y="2011680"/>
            <a:ext cx="3520440" cy="338328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g.png"/>
          <p:cNvPicPr>
            <a:picLocks noChangeAspect="1"/>
          </p:cNvPicPr>
          <p:nvPr/>
        </p:nvPicPr>
        <p:blipFill>
          <a:blip r:embed="rId3"/>
          <a:stretch>
            <a:fillRect/>
          </a:stretch>
        </p:blipFill>
        <p:spPr>
          <a:xfrm>
            <a:off x="868680" y="2286000"/>
            <a:ext cx="914400" cy="914400"/>
          </a:xfrm>
          <a:prstGeom prst="rect">
            <a:avLst/>
          </a:prstGeom>
        </p:spPr>
      </p:pic>
      <p:sp>
        <p:nvSpPr>
          <p:cNvPr id="8" name="TextBox 7"/>
          <p:cNvSpPr txBox="1"/>
          <p:nvPr/>
        </p:nvSpPr>
        <p:spPr>
          <a:xfrm>
            <a:off x="868680" y="3383280"/>
            <a:ext cx="3108960" cy="548640"/>
          </a:xfrm>
          <a:prstGeom prst="rect">
            <a:avLst/>
          </a:prstGeom>
          <a:noFill/>
        </p:spPr>
        <p:txBody>
          <a:bodyPr wrap="square" anchor="t" lIns="0" rIns="0" tIns="0" bIns="0">
            <a:spAutoFit/>
          </a:bodyPr>
          <a:lstStyle/>
          <a:p>
            <a:pPr algn="l">
              <a:lnSpc>
                <a:spcPct val="110000"/>
              </a:lnSpc>
            </a:pPr>
            <a:r>
              <a:rPr sz="1800" b="1">
                <a:solidFill>
                  <a:srgbClr val="FFB547"/>
                </a:solidFill>
                <a:latin typeface="Unbounded"/>
              </a:rPr>
              <a:t>ImagePullBackOff</a:t>
            </a:r>
          </a:p>
        </p:txBody>
      </p:sp>
      <p:sp>
        <p:nvSpPr>
          <p:cNvPr id="9" name="TextBox 8"/>
          <p:cNvSpPr txBox="1"/>
          <p:nvPr/>
        </p:nvSpPr>
        <p:spPr>
          <a:xfrm>
            <a:off x="868680" y="4114800"/>
            <a:ext cx="3017520" cy="822960"/>
          </a:xfrm>
          <a:prstGeom prst="rect">
            <a:avLst/>
          </a:prstGeom>
          <a:noFill/>
        </p:spPr>
        <p:txBody>
          <a:bodyPr wrap="square" anchor="t" lIns="0" rIns="0" tIns="0" bIns="0">
            <a:spAutoFit/>
          </a:bodyPr>
          <a:lstStyle/>
          <a:p>
            <a:pPr algn="l">
              <a:lnSpc>
                <a:spcPct val="110000"/>
              </a:lnSpc>
            </a:pPr>
            <a:r>
              <a:rPr sz="2400" b="0">
                <a:solidFill>
                  <a:srgbClr val="F5F7FA"/>
                </a:solidFill>
                <a:latin typeface="DM Sans"/>
              </a:rPr>
              <a:t>Wrong image tag.</a:t>
            </a:r>
          </a:p>
        </p:txBody>
      </p:sp>
      <p:sp>
        <p:nvSpPr>
          <p:cNvPr id="10" name="Rounded Rectangle 9"/>
          <p:cNvSpPr/>
          <p:nvPr/>
        </p:nvSpPr>
        <p:spPr>
          <a:xfrm>
            <a:off x="4343400" y="2011680"/>
            <a:ext cx="3520440" cy="338328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nlink.png"/>
          <p:cNvPicPr>
            <a:picLocks noChangeAspect="1"/>
          </p:cNvPicPr>
          <p:nvPr/>
        </p:nvPicPr>
        <p:blipFill>
          <a:blip r:embed="rId4"/>
          <a:stretch>
            <a:fillRect/>
          </a:stretch>
        </p:blipFill>
        <p:spPr>
          <a:xfrm>
            <a:off x="4617720" y="2286000"/>
            <a:ext cx="914400" cy="914400"/>
          </a:xfrm>
          <a:prstGeom prst="rect">
            <a:avLst/>
          </a:prstGeom>
        </p:spPr>
      </p:pic>
      <p:sp>
        <p:nvSpPr>
          <p:cNvPr id="12" name="TextBox 11"/>
          <p:cNvSpPr txBox="1"/>
          <p:nvPr/>
        </p:nvSpPr>
        <p:spPr>
          <a:xfrm>
            <a:off x="4617720" y="3383280"/>
            <a:ext cx="3108960" cy="548640"/>
          </a:xfrm>
          <a:prstGeom prst="rect">
            <a:avLst/>
          </a:prstGeom>
          <a:noFill/>
        </p:spPr>
        <p:txBody>
          <a:bodyPr wrap="square" anchor="t" lIns="0" rIns="0" tIns="0" bIns="0">
            <a:spAutoFit/>
          </a:bodyPr>
          <a:lstStyle/>
          <a:p>
            <a:pPr algn="l">
              <a:lnSpc>
                <a:spcPct val="110000"/>
              </a:lnSpc>
            </a:pPr>
            <a:r>
              <a:rPr sz="1800" b="1">
                <a:solidFill>
                  <a:srgbClr val="FFB547"/>
                </a:solidFill>
                <a:latin typeface="Unbounded"/>
              </a:rPr>
              <a:t>No endpoints</a:t>
            </a:r>
          </a:p>
        </p:txBody>
      </p:sp>
      <p:sp>
        <p:nvSpPr>
          <p:cNvPr id="13" name="TextBox 12"/>
          <p:cNvSpPr txBox="1"/>
          <p:nvPr/>
        </p:nvSpPr>
        <p:spPr>
          <a:xfrm>
            <a:off x="4617720" y="4114800"/>
            <a:ext cx="3017520" cy="822960"/>
          </a:xfrm>
          <a:prstGeom prst="rect">
            <a:avLst/>
          </a:prstGeom>
          <a:noFill/>
        </p:spPr>
        <p:txBody>
          <a:bodyPr wrap="square" anchor="t" lIns="0" rIns="0" tIns="0" bIns="0">
            <a:spAutoFit/>
          </a:bodyPr>
          <a:lstStyle/>
          <a:p>
            <a:pPr algn="l">
              <a:lnSpc>
                <a:spcPct val="110000"/>
              </a:lnSpc>
            </a:pPr>
            <a:r>
              <a:rPr sz="2400" b="0">
                <a:solidFill>
                  <a:srgbClr val="F5F7FA"/>
                </a:solidFill>
                <a:latin typeface="DM Sans"/>
              </a:rPr>
              <a:t>Label typo.</a:t>
            </a:r>
          </a:p>
        </p:txBody>
      </p:sp>
      <p:sp>
        <p:nvSpPr>
          <p:cNvPr id="14" name="Rounded Rectangle 13"/>
          <p:cNvSpPr/>
          <p:nvPr/>
        </p:nvSpPr>
        <p:spPr>
          <a:xfrm>
            <a:off x="8092440" y="2011680"/>
            <a:ext cx="3520440" cy="3383280"/>
          </a:xfrm>
          <a:prstGeom prst="roundRect">
            <a:avLst>
              <a:gd name="adj" fmla="val 12000"/>
            </a:avLst>
          </a:prstGeom>
          <a:solidFill>
            <a:srgbClr val="141B34"/>
          </a:solidFill>
          <a:ln w="19050">
            <a:solidFill>
              <a:srgbClr val="2A33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peat.png"/>
          <p:cNvPicPr>
            <a:picLocks noChangeAspect="1"/>
          </p:cNvPicPr>
          <p:nvPr/>
        </p:nvPicPr>
        <p:blipFill>
          <a:blip r:embed="rId5"/>
          <a:stretch>
            <a:fillRect/>
          </a:stretch>
        </p:blipFill>
        <p:spPr>
          <a:xfrm>
            <a:off x="8366760" y="2286000"/>
            <a:ext cx="914400" cy="914400"/>
          </a:xfrm>
          <a:prstGeom prst="rect">
            <a:avLst/>
          </a:prstGeom>
        </p:spPr>
      </p:pic>
      <p:sp>
        <p:nvSpPr>
          <p:cNvPr id="16" name="TextBox 15"/>
          <p:cNvSpPr txBox="1"/>
          <p:nvPr/>
        </p:nvSpPr>
        <p:spPr>
          <a:xfrm>
            <a:off x="8366760" y="3383280"/>
            <a:ext cx="3108960" cy="548640"/>
          </a:xfrm>
          <a:prstGeom prst="rect">
            <a:avLst/>
          </a:prstGeom>
          <a:noFill/>
        </p:spPr>
        <p:txBody>
          <a:bodyPr wrap="square" anchor="t" lIns="0" rIns="0" tIns="0" bIns="0">
            <a:spAutoFit/>
          </a:bodyPr>
          <a:lstStyle/>
          <a:p>
            <a:pPr algn="l">
              <a:lnSpc>
                <a:spcPct val="110000"/>
              </a:lnSpc>
            </a:pPr>
            <a:r>
              <a:rPr sz="1800" b="1">
                <a:solidFill>
                  <a:srgbClr val="FFB547"/>
                </a:solidFill>
                <a:latin typeface="Unbounded"/>
              </a:rPr>
              <a:t>CrashLoopBackOff</a:t>
            </a:r>
          </a:p>
        </p:txBody>
      </p:sp>
      <p:sp>
        <p:nvSpPr>
          <p:cNvPr id="17" name="TextBox 16"/>
          <p:cNvSpPr txBox="1"/>
          <p:nvPr/>
        </p:nvSpPr>
        <p:spPr>
          <a:xfrm>
            <a:off x="8366760" y="4114800"/>
            <a:ext cx="3017520" cy="822960"/>
          </a:xfrm>
          <a:prstGeom prst="rect">
            <a:avLst/>
          </a:prstGeom>
          <a:noFill/>
        </p:spPr>
        <p:txBody>
          <a:bodyPr wrap="square" anchor="t" lIns="0" rIns="0" tIns="0" bIns="0">
            <a:spAutoFit/>
          </a:bodyPr>
          <a:lstStyle/>
          <a:p>
            <a:pPr algn="l">
              <a:lnSpc>
                <a:spcPct val="110000"/>
              </a:lnSpc>
            </a:pPr>
            <a:r>
              <a:rPr sz="2400" b="0">
                <a:solidFill>
                  <a:srgbClr val="F5F7FA"/>
                </a:solidFill>
                <a:latin typeface="DM Sans"/>
              </a:rPr>
              <a:t>Missing setting.</a:t>
            </a:r>
          </a:p>
        </p:txBody>
      </p:sp>
      <p:sp>
        <p:nvSpPr>
          <p:cNvPr id="18" name="TextBox 17"/>
          <p:cNvSpPr txBox="1"/>
          <p:nvPr/>
        </p:nvSpPr>
        <p:spPr>
          <a:xfrm>
            <a:off x="594360" y="5760720"/>
            <a:ext cx="10972800" cy="457200"/>
          </a:xfrm>
          <a:prstGeom prst="rect">
            <a:avLst/>
          </a:prstGeom>
          <a:noFill/>
        </p:spPr>
        <p:txBody>
          <a:bodyPr wrap="square" anchor="t" lIns="0" rIns="0" tIns="0" bIns="0">
            <a:spAutoFit/>
          </a:bodyPr>
          <a:lstStyle/>
          <a:p>
            <a:pPr algn="l">
              <a:lnSpc>
                <a:spcPct val="110000"/>
              </a:lnSpc>
            </a:pPr>
            <a:r>
              <a:rPr sz="2200" b="0">
                <a:solidFill>
                  <a:srgbClr val="9AA4C4"/>
                </a:solidFill>
                <a:latin typeface="DM Sans"/>
              </a:rPr>
              <a:t>Found with kubectl, fixed with apply -f.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min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3008376" cy="402336"/>
          </a:xfrm>
          <a:prstGeom prst="roundRect">
            <a:avLst>
              <a:gd name="adj" fmla="val 50000"/>
            </a:avLst>
          </a:prstGeom>
          <a:solidFill>
            <a:srgbClr val="7C4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3008376" cy="402336"/>
          </a:xfrm>
          <a:prstGeom prst="rect">
            <a:avLst/>
          </a:prstGeom>
          <a:noFill/>
        </p:spPr>
        <p:txBody>
          <a:bodyPr wrap="square" anchor="ctr" lIns="0" rIns="0" tIns="0" bIns="0">
            <a:spAutoFit/>
          </a:bodyPr>
          <a:lstStyle/>
          <a:p>
            <a:pPr algn="ctr">
              <a:lnSpc>
                <a:spcPct val="110000"/>
              </a:lnSpc>
            </a:pPr>
            <a:r>
              <a:rPr sz="1800" b="1">
                <a:solidFill>
                  <a:srgbClr val="F5F7FA"/>
                </a:solidFill>
                <a:latin typeface="DM Sans"/>
              </a:rPr>
              <a:t>16  WHY KUBERNETES</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Why Kubernetes?</a:t>
            </a:r>
          </a:p>
        </p:txBody>
      </p:sp>
      <p:graphicFrame>
        <p:nvGraphicFramePr>
          <p:cNvPr id="6" name="Table 5"/>
          <p:cNvGraphicFramePr>
            <a:graphicFrameLocks noGrp="1"/>
          </p:cNvGraphicFramePr>
          <p:nvPr/>
        </p:nvGraphicFramePr>
        <p:xfrm>
          <a:off x="594360" y="1920240"/>
          <a:ext cx="10972800" cy="3657600"/>
        </p:xfrm>
        <a:graphic>
          <a:graphicData uri="http://schemas.openxmlformats.org/drawingml/2006/table">
            <a:tbl>
              <a:tblPr firstRow="1" bandRow="1">
                <a:tableStyleId>{5C22544A-7EE6-4342-B048-85BDC9FD1C3A}</a:tableStyleId>
              </a:tblPr>
              <a:tblGrid>
                <a:gridCol w="3566160"/>
                <a:gridCol w="1851660"/>
                <a:gridCol w="1851660"/>
                <a:gridCol w="1851660"/>
                <a:gridCol w="1851660"/>
              </a:tblGrid>
              <a:tr h="731520">
                <a:tc>
                  <a:txBody>
                    <a:bodyPr/>
                    <a:lstStyle/>
                    <a:p>
                      <a:pPr algn="l"/>
                      <a:r>
                        <a:rPr sz="2000" b="1">
                          <a:solidFill>
                            <a:srgbClr val="F5F7FA"/>
                          </a:solidFill>
                          <a:latin typeface="DM Sans"/>
                        </a:rPr>
                        <a:t/>
                      </a:r>
                    </a:p>
                  </a:txBody>
                  <a:tcPr anchor="ctr">
                    <a:solidFill>
                      <a:srgbClr val="7C4DFF"/>
                    </a:solidFill>
                  </a:tcPr>
                </a:tc>
                <a:tc>
                  <a:txBody>
                    <a:bodyPr/>
                    <a:lstStyle/>
                    <a:p>
                      <a:pPr algn="ctr"/>
                      <a:r>
                        <a:rPr sz="2000" b="1">
                          <a:solidFill>
                            <a:srgbClr val="F5F7FA"/>
                          </a:solidFill>
                          <a:latin typeface="DM Sans"/>
                        </a:rPr>
                        <a:t>Self-heals</a:t>
                      </a:r>
                    </a:p>
                  </a:txBody>
                  <a:tcPr anchor="ctr">
                    <a:solidFill>
                      <a:srgbClr val="7C4DFF"/>
                    </a:solidFill>
                  </a:tcPr>
                </a:tc>
                <a:tc>
                  <a:txBody>
                    <a:bodyPr/>
                    <a:lstStyle/>
                    <a:p>
                      <a:pPr algn="ctr"/>
                      <a:r>
                        <a:rPr sz="2000" b="1">
                          <a:solidFill>
                            <a:srgbClr val="F5F7FA"/>
                          </a:solidFill>
                          <a:latin typeface="DM Sans"/>
                        </a:rPr>
                        <a:t>Auto scales</a:t>
                      </a:r>
                    </a:p>
                  </a:txBody>
                  <a:tcPr anchor="ctr">
                    <a:solidFill>
                      <a:srgbClr val="7C4DFF"/>
                    </a:solidFill>
                  </a:tcPr>
                </a:tc>
                <a:tc>
                  <a:txBody>
                    <a:bodyPr/>
                    <a:lstStyle/>
                    <a:p>
                      <a:pPr algn="ctr"/>
                      <a:r>
                        <a:rPr sz="2000" b="1">
                          <a:solidFill>
                            <a:srgbClr val="F5F7FA"/>
                          </a:solidFill>
                          <a:latin typeface="DM Sans"/>
                        </a:rPr>
                        <a:t>Rolling updates</a:t>
                      </a:r>
                    </a:p>
                  </a:txBody>
                  <a:tcPr anchor="ctr">
                    <a:solidFill>
                      <a:srgbClr val="7C4DFF"/>
                    </a:solidFill>
                  </a:tcPr>
                </a:tc>
                <a:tc>
                  <a:txBody>
                    <a:bodyPr/>
                    <a:lstStyle/>
                    <a:p>
                      <a:pPr algn="ctr"/>
                      <a:r>
                        <a:rPr sz="2000" b="1">
                          <a:solidFill>
                            <a:srgbClr val="F5F7FA"/>
                          </a:solidFill>
                          <a:latin typeface="DM Sans"/>
                        </a:rPr>
                        <a:t>Any cloud</a:t>
                      </a:r>
                    </a:p>
                  </a:txBody>
                  <a:tcPr anchor="ctr">
                    <a:solidFill>
                      <a:srgbClr val="7C4DFF"/>
                    </a:solidFill>
                  </a:tcPr>
                </a:tc>
              </a:tr>
              <a:tr h="731520">
                <a:tc>
                  <a:txBody>
                    <a:bodyPr/>
                    <a:lstStyle/>
                    <a:p>
                      <a:pPr algn="l"/>
                      <a:r>
                        <a:rPr sz="2000" b="1">
                          <a:solidFill>
                            <a:srgbClr val="F5F7FA"/>
                          </a:solidFill>
                          <a:latin typeface="DM Sans"/>
                        </a:rPr>
                        <a:t>Docker Compose only</a:t>
                      </a:r>
                    </a:p>
                  </a:txBody>
                  <a:tcPr anchor="ctr">
                    <a:solidFill>
                      <a:srgbClr val="141B34"/>
                    </a:solidFill>
                  </a:tcPr>
                </a:tc>
                <a:tc>
                  <a:txBody>
                    <a:bodyPr/>
                    <a:lstStyle/>
                    <a:p>
                      <a:pPr algn="ctr"/>
                      <a:r>
                        <a:rPr sz="2000" b="0">
                          <a:solidFill>
                            <a:srgbClr val="FFB547"/>
                          </a:solidFill>
                          <a:latin typeface="DM Sans"/>
                        </a:rPr>
                        <a:t>Partly</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c>
                  <a:txBody>
                    <a:bodyPr/>
                    <a:lstStyle/>
                    <a:p>
                      <a:pPr algn="ctr"/>
                      <a:r>
                        <a:rPr sz="2000" b="0">
                          <a:solidFill>
                            <a:srgbClr val="2EE6A6"/>
                          </a:solidFill>
                          <a:latin typeface="DM Sans"/>
                        </a:rPr>
                        <a:t>Yes</a:t>
                      </a:r>
                    </a:p>
                  </a:txBody>
                  <a:tcPr anchor="ctr">
                    <a:solidFill>
                      <a:srgbClr val="141B34"/>
                    </a:solidFill>
                  </a:tcPr>
                </a:tc>
              </a:tr>
              <a:tr h="731520">
                <a:tc>
                  <a:txBody>
                    <a:bodyPr/>
                    <a:lstStyle/>
                    <a:p>
                      <a:pPr algn="l"/>
                      <a:r>
                        <a:rPr sz="2000" b="1">
                          <a:solidFill>
                            <a:srgbClr val="F5F7FA"/>
                          </a:solidFill>
                          <a:latin typeface="DM Sans"/>
                        </a:rPr>
                        <a:t>A single VM</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c>
                  <a:txBody>
                    <a:bodyPr/>
                    <a:lstStyle/>
                    <a:p>
                      <a:pPr algn="ctr"/>
                      <a:r>
                        <a:rPr sz="2000" b="0">
                          <a:solidFill>
                            <a:srgbClr val="2EE6A6"/>
                          </a:solidFill>
                          <a:latin typeface="DM Sans"/>
                        </a:rPr>
                        <a:t>Yes</a:t>
                      </a:r>
                    </a:p>
                  </a:txBody>
                  <a:tcPr anchor="ctr">
                    <a:solidFill>
                      <a:srgbClr val="141B34"/>
                    </a:solidFill>
                  </a:tcPr>
                </a:tc>
              </a:tr>
              <a:tr h="731520">
                <a:tc>
                  <a:txBody>
                    <a:bodyPr/>
                    <a:lstStyle/>
                    <a:p>
                      <a:pPr algn="l"/>
                      <a:r>
                        <a:rPr sz="2000" b="1">
                          <a:solidFill>
                            <a:srgbClr val="F5F7FA"/>
                          </a:solidFill>
                          <a:latin typeface="DM Sans"/>
                        </a:rPr>
                        <a:t>Managed container service</a:t>
                      </a:r>
                    </a:p>
                  </a:txBody>
                  <a:tcPr anchor="ctr">
                    <a:solidFill>
                      <a:srgbClr val="141B34"/>
                    </a:solidFill>
                  </a:tcPr>
                </a:tc>
                <a:tc>
                  <a:txBody>
                    <a:bodyPr/>
                    <a:lstStyle/>
                    <a:p>
                      <a:pPr algn="ctr"/>
                      <a:r>
                        <a:rPr sz="2000" b="0">
                          <a:solidFill>
                            <a:srgbClr val="2EE6A6"/>
                          </a:solidFill>
                          <a:latin typeface="DM Sans"/>
                        </a:rPr>
                        <a:t>Yes</a:t>
                      </a:r>
                    </a:p>
                  </a:txBody>
                  <a:tcPr anchor="ctr">
                    <a:solidFill>
                      <a:srgbClr val="141B34"/>
                    </a:solidFill>
                  </a:tcPr>
                </a:tc>
                <a:tc>
                  <a:txBody>
                    <a:bodyPr/>
                    <a:lstStyle/>
                    <a:p>
                      <a:pPr algn="ctr"/>
                      <a:r>
                        <a:rPr sz="2000" b="0">
                          <a:solidFill>
                            <a:srgbClr val="2EE6A6"/>
                          </a:solidFill>
                          <a:latin typeface="DM Sans"/>
                        </a:rPr>
                        <a:t>Yes</a:t>
                      </a:r>
                    </a:p>
                  </a:txBody>
                  <a:tcPr anchor="ctr">
                    <a:solidFill>
                      <a:srgbClr val="141B34"/>
                    </a:solidFill>
                  </a:tcPr>
                </a:tc>
                <a:tc>
                  <a:txBody>
                    <a:bodyPr/>
                    <a:lstStyle/>
                    <a:p>
                      <a:pPr algn="ctr"/>
                      <a:r>
                        <a:rPr sz="2000" b="0">
                          <a:solidFill>
                            <a:srgbClr val="2EE6A6"/>
                          </a:solidFill>
                          <a:latin typeface="DM Sans"/>
                        </a:rPr>
                        <a:t>Yes</a:t>
                      </a:r>
                    </a:p>
                  </a:txBody>
                  <a:tcPr anchor="ctr">
                    <a:solidFill>
                      <a:srgbClr val="141B34"/>
                    </a:solidFill>
                  </a:tcPr>
                </a:tc>
                <a:tc>
                  <a:txBody>
                    <a:bodyPr/>
                    <a:lstStyle/>
                    <a:p>
                      <a:pPr algn="ctr"/>
                      <a:r>
                        <a:rPr sz="2000" b="0">
                          <a:solidFill>
                            <a:srgbClr val="FF5D5D"/>
                          </a:solidFill>
                          <a:latin typeface="DM Sans"/>
                        </a:rPr>
                        <a:t>No</a:t>
                      </a:r>
                    </a:p>
                  </a:txBody>
                  <a:tcPr anchor="ctr">
                    <a:solidFill>
                      <a:srgbClr val="141B34"/>
                    </a:solidFill>
                  </a:tcPr>
                </a:tc>
              </a:tr>
              <a:tr h="731520">
                <a:tc>
                  <a:txBody>
                    <a:bodyPr/>
                    <a:lstStyle/>
                    <a:p>
                      <a:pPr algn="l"/>
                      <a:r>
                        <a:rPr sz="2000" b="1">
                          <a:solidFill>
                            <a:srgbClr val="0B1020"/>
                          </a:solidFill>
                          <a:latin typeface="DM Sans"/>
                        </a:rPr>
                        <a:t>Kubernetes</a:t>
                      </a:r>
                    </a:p>
                  </a:txBody>
                  <a:tcPr anchor="ctr">
                    <a:solidFill>
                      <a:srgbClr val="C6FF3D"/>
                    </a:solidFill>
                  </a:tcPr>
                </a:tc>
                <a:tc>
                  <a:txBody>
                    <a:bodyPr/>
                    <a:lstStyle/>
                    <a:p>
                      <a:pPr algn="ctr"/>
                      <a:r>
                        <a:rPr sz="2000" b="1">
                          <a:solidFill>
                            <a:srgbClr val="0B1020"/>
                          </a:solidFill>
                          <a:latin typeface="DM Sans"/>
                        </a:rPr>
                        <a:t>Yes</a:t>
                      </a:r>
                    </a:p>
                  </a:txBody>
                  <a:tcPr anchor="ctr">
                    <a:solidFill>
                      <a:srgbClr val="C6FF3D"/>
                    </a:solidFill>
                  </a:tcPr>
                </a:tc>
                <a:tc>
                  <a:txBody>
                    <a:bodyPr/>
                    <a:lstStyle/>
                    <a:p>
                      <a:pPr algn="ctr"/>
                      <a:r>
                        <a:rPr sz="2000" b="1">
                          <a:solidFill>
                            <a:srgbClr val="0B1020"/>
                          </a:solidFill>
                          <a:latin typeface="DM Sans"/>
                        </a:rPr>
                        <a:t>Yes</a:t>
                      </a:r>
                    </a:p>
                  </a:txBody>
                  <a:tcPr anchor="ctr">
                    <a:solidFill>
                      <a:srgbClr val="C6FF3D"/>
                    </a:solidFill>
                  </a:tcPr>
                </a:tc>
                <a:tc>
                  <a:txBody>
                    <a:bodyPr/>
                    <a:lstStyle/>
                    <a:p>
                      <a:pPr algn="ctr"/>
                      <a:r>
                        <a:rPr sz="2000" b="1">
                          <a:solidFill>
                            <a:srgbClr val="0B1020"/>
                          </a:solidFill>
                          <a:latin typeface="DM Sans"/>
                        </a:rPr>
                        <a:t>Yes</a:t>
                      </a:r>
                    </a:p>
                  </a:txBody>
                  <a:tcPr anchor="ctr">
                    <a:solidFill>
                      <a:srgbClr val="C6FF3D"/>
                    </a:solidFill>
                  </a:tcPr>
                </a:tc>
                <a:tc>
                  <a:txBody>
                    <a:bodyPr/>
                    <a:lstStyle/>
                    <a:p>
                      <a:pPr algn="ctr"/>
                      <a:r>
                        <a:rPr sz="2000" b="1">
                          <a:solidFill>
                            <a:srgbClr val="0B1020"/>
                          </a:solidFill>
                          <a:latin typeface="DM Sans"/>
                        </a:rPr>
                        <a:t>Yes</a:t>
                      </a:r>
                    </a:p>
                  </a:txBody>
                  <a:tcPr anchor="ctr">
                    <a:solidFill>
                      <a:srgbClr val="C6FF3D"/>
                    </a:solidFill>
                  </a:tcPr>
                </a:tc>
              </a:tr>
            </a:tbl>
          </a:graphicData>
        </a:graphic>
      </p:graphicFrame>
      <p:sp>
        <p:nvSpPr>
          <p:cNvPr id="7" name="TextBox 6"/>
          <p:cNvSpPr txBox="1"/>
          <p:nvPr/>
        </p:nvSpPr>
        <p:spPr>
          <a:xfrm>
            <a:off x="594360" y="5852160"/>
            <a:ext cx="10972800" cy="457200"/>
          </a:xfrm>
          <a:prstGeom prst="rect">
            <a:avLst/>
          </a:prstGeom>
          <a:noFill/>
        </p:spPr>
        <p:txBody>
          <a:bodyPr wrap="square" anchor="t" lIns="0" rIns="0" tIns="0" bIns="0">
            <a:spAutoFit/>
          </a:bodyPr>
          <a:lstStyle/>
          <a:p>
            <a:pPr algn="l">
              <a:lnSpc>
                <a:spcPct val="110000"/>
              </a:lnSpc>
            </a:pPr>
            <a:r>
              <a:rPr sz="2200" b="0">
                <a:solidFill>
                  <a:srgbClr val="F5F7FA"/>
                </a:solidFill>
                <a:latin typeface="DM Sans"/>
              </a:rPr>
              <a:t>Kubernetes does it all, on any cloud. The price is more to learn.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016252" cy="402336"/>
          </a:xfrm>
          <a:prstGeom prst="roundRect">
            <a:avLst>
              <a:gd name="adj" fmla="val 5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016252" cy="402336"/>
          </a:xfrm>
          <a:prstGeom prst="rect">
            <a:avLst/>
          </a:prstGeom>
          <a:noFill/>
        </p:spPr>
        <p:txBody>
          <a:bodyPr wrap="square" anchor="ctr" lIns="0" rIns="0" tIns="0" bIns="0">
            <a:spAutoFit/>
          </a:bodyPr>
          <a:lstStyle/>
          <a:p>
            <a:pPr algn="ctr">
              <a:lnSpc>
                <a:spcPct val="110000"/>
              </a:lnSpc>
            </a:pPr>
            <a:r>
              <a:rPr sz="1800" b="1">
                <a:solidFill>
                  <a:srgbClr val="C6FF3D"/>
                </a:solidFill>
                <a:latin typeface="DM Sans"/>
              </a:rPr>
              <a:t>17  RESULTS</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0B1020"/>
                </a:solidFill>
                <a:latin typeface="Unbounded"/>
              </a:rPr>
              <a:t>Results in numbers</a:t>
            </a:r>
          </a:p>
        </p:txBody>
      </p:sp>
      <p:sp>
        <p:nvSpPr>
          <p:cNvPr id="6" name="Rounded Rectangle 5"/>
          <p:cNvSpPr/>
          <p:nvPr/>
        </p:nvSpPr>
        <p:spPr>
          <a:xfrm>
            <a:off x="594360" y="201168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40280"/>
            <a:ext cx="2286000" cy="822960"/>
          </a:xfrm>
          <a:prstGeom prst="rect">
            <a:avLst/>
          </a:prstGeom>
          <a:noFill/>
        </p:spPr>
        <p:txBody>
          <a:bodyPr wrap="square" anchor="ctr" lIns="0" rIns="0" tIns="0" bIns="0">
            <a:spAutoFit/>
          </a:bodyPr>
          <a:lstStyle/>
          <a:p>
            <a:pPr algn="l">
              <a:lnSpc>
                <a:spcPct val="110000"/>
              </a:lnSpc>
            </a:pPr>
            <a:r>
              <a:rPr sz="3200" b="1">
                <a:solidFill>
                  <a:srgbClr val="C6FF3D"/>
                </a:solidFill>
                <a:latin typeface="Unbounded"/>
              </a:rPr>
              <a:t>32</a:t>
            </a:r>
          </a:p>
        </p:txBody>
      </p:sp>
      <p:sp>
        <p:nvSpPr>
          <p:cNvPr id="8" name="TextBox 7"/>
          <p:cNvSpPr txBox="1"/>
          <p:nvPr/>
        </p:nvSpPr>
        <p:spPr>
          <a:xfrm>
            <a:off x="777240" y="320040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tests pass</a:t>
            </a:r>
          </a:p>
        </p:txBody>
      </p:sp>
      <p:sp>
        <p:nvSpPr>
          <p:cNvPr id="9" name="Rounded Rectangle 8"/>
          <p:cNvSpPr/>
          <p:nvPr/>
        </p:nvSpPr>
        <p:spPr>
          <a:xfrm>
            <a:off x="3383279" y="201168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240280"/>
            <a:ext cx="2286000" cy="822960"/>
          </a:xfrm>
          <a:prstGeom prst="rect">
            <a:avLst/>
          </a:prstGeom>
          <a:noFill/>
        </p:spPr>
        <p:txBody>
          <a:bodyPr wrap="square" anchor="ctr" lIns="0" rIns="0" tIns="0" bIns="0">
            <a:spAutoFit/>
          </a:bodyPr>
          <a:lstStyle/>
          <a:p>
            <a:pPr algn="l">
              <a:lnSpc>
                <a:spcPct val="110000"/>
              </a:lnSpc>
            </a:pPr>
            <a:r>
              <a:rPr sz="3200" b="1">
                <a:solidFill>
                  <a:srgbClr val="22D3EE"/>
                </a:solidFill>
                <a:latin typeface="Unbounded"/>
              </a:rPr>
              <a:t>15</a:t>
            </a:r>
          </a:p>
        </p:txBody>
      </p:sp>
      <p:sp>
        <p:nvSpPr>
          <p:cNvPr id="11" name="TextBox 10"/>
          <p:cNvSpPr txBox="1"/>
          <p:nvPr/>
        </p:nvSpPr>
        <p:spPr>
          <a:xfrm>
            <a:off x="3566160" y="320040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API endpoints</a:t>
            </a:r>
          </a:p>
        </p:txBody>
      </p:sp>
      <p:sp>
        <p:nvSpPr>
          <p:cNvPr id="12" name="Rounded Rectangle 11"/>
          <p:cNvSpPr/>
          <p:nvPr/>
        </p:nvSpPr>
        <p:spPr>
          <a:xfrm>
            <a:off x="6172200" y="201168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240280"/>
            <a:ext cx="2286000" cy="822960"/>
          </a:xfrm>
          <a:prstGeom prst="rect">
            <a:avLst/>
          </a:prstGeom>
          <a:noFill/>
        </p:spPr>
        <p:txBody>
          <a:bodyPr wrap="square" anchor="ctr" lIns="0" rIns="0" tIns="0" bIns="0">
            <a:spAutoFit/>
          </a:bodyPr>
          <a:lstStyle/>
          <a:p>
            <a:pPr algn="l">
              <a:lnSpc>
                <a:spcPct val="110000"/>
              </a:lnSpc>
            </a:pPr>
            <a:r>
              <a:rPr sz="3200" b="1">
                <a:solidFill>
                  <a:srgbClr val="FFB547"/>
                </a:solidFill>
                <a:latin typeface="Unbounded"/>
              </a:rPr>
              <a:t>5m 31s</a:t>
            </a:r>
          </a:p>
        </p:txBody>
      </p:sp>
      <p:sp>
        <p:nvSpPr>
          <p:cNvPr id="14" name="TextBox 13"/>
          <p:cNvSpPr txBox="1"/>
          <p:nvPr/>
        </p:nvSpPr>
        <p:spPr>
          <a:xfrm>
            <a:off x="6355080" y="320040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full pipeline</a:t>
            </a:r>
          </a:p>
        </p:txBody>
      </p:sp>
      <p:sp>
        <p:nvSpPr>
          <p:cNvPr id="15" name="Rounded Rectangle 14"/>
          <p:cNvSpPr/>
          <p:nvPr/>
        </p:nvSpPr>
        <p:spPr>
          <a:xfrm>
            <a:off x="8961119" y="201168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3999" y="2240280"/>
            <a:ext cx="2286000" cy="822960"/>
          </a:xfrm>
          <a:prstGeom prst="rect">
            <a:avLst/>
          </a:prstGeom>
          <a:noFill/>
        </p:spPr>
        <p:txBody>
          <a:bodyPr wrap="square" anchor="ctr" lIns="0" rIns="0" tIns="0" bIns="0">
            <a:spAutoFit/>
          </a:bodyPr>
          <a:lstStyle/>
          <a:p>
            <a:pPr algn="l">
              <a:lnSpc>
                <a:spcPct val="110000"/>
              </a:lnSpc>
            </a:pPr>
            <a:r>
              <a:rPr sz="3200" b="1">
                <a:solidFill>
                  <a:srgbClr val="2EE6A6"/>
                </a:solidFill>
                <a:latin typeface="Unbounded"/>
              </a:rPr>
              <a:t>0</a:t>
            </a:r>
          </a:p>
        </p:txBody>
      </p:sp>
      <p:sp>
        <p:nvSpPr>
          <p:cNvPr id="17" name="TextBox 16"/>
          <p:cNvSpPr txBox="1"/>
          <p:nvPr/>
        </p:nvSpPr>
        <p:spPr>
          <a:xfrm>
            <a:off x="9143999" y="320040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HIGH or CRITICAL</a:t>
            </a:r>
          </a:p>
        </p:txBody>
      </p:sp>
      <p:sp>
        <p:nvSpPr>
          <p:cNvPr id="18" name="Rounded Rectangle 17"/>
          <p:cNvSpPr/>
          <p:nvPr/>
        </p:nvSpPr>
        <p:spPr>
          <a:xfrm>
            <a:off x="594360" y="416052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389120"/>
            <a:ext cx="2286000" cy="822960"/>
          </a:xfrm>
          <a:prstGeom prst="rect">
            <a:avLst/>
          </a:prstGeom>
          <a:noFill/>
        </p:spPr>
        <p:txBody>
          <a:bodyPr wrap="square" anchor="ctr" lIns="0" rIns="0" tIns="0" bIns="0">
            <a:spAutoFit/>
          </a:bodyPr>
          <a:lstStyle/>
          <a:p>
            <a:pPr algn="l">
              <a:lnSpc>
                <a:spcPct val="110000"/>
              </a:lnSpc>
            </a:pPr>
            <a:r>
              <a:rPr sz="3200" b="1">
                <a:solidFill>
                  <a:srgbClr val="FF6BD6"/>
                </a:solidFill>
                <a:latin typeface="Unbounded"/>
              </a:rPr>
              <a:t>5</a:t>
            </a:r>
          </a:p>
        </p:txBody>
      </p:sp>
      <p:sp>
        <p:nvSpPr>
          <p:cNvPr id="20" name="TextBox 19"/>
          <p:cNvSpPr txBox="1"/>
          <p:nvPr/>
        </p:nvSpPr>
        <p:spPr>
          <a:xfrm>
            <a:off x="777240" y="534924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pods running</a:t>
            </a:r>
          </a:p>
        </p:txBody>
      </p:sp>
      <p:sp>
        <p:nvSpPr>
          <p:cNvPr id="21" name="Rounded Rectangle 20"/>
          <p:cNvSpPr/>
          <p:nvPr/>
        </p:nvSpPr>
        <p:spPr>
          <a:xfrm>
            <a:off x="3383279" y="416052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4389120"/>
            <a:ext cx="2286000" cy="822960"/>
          </a:xfrm>
          <a:prstGeom prst="rect">
            <a:avLst/>
          </a:prstGeom>
          <a:noFill/>
        </p:spPr>
        <p:txBody>
          <a:bodyPr wrap="square" anchor="ctr" lIns="0" rIns="0" tIns="0" bIns="0">
            <a:spAutoFit/>
          </a:bodyPr>
          <a:lstStyle/>
          <a:p>
            <a:pPr algn="l">
              <a:lnSpc>
                <a:spcPct val="110000"/>
              </a:lnSpc>
            </a:pPr>
            <a:r>
              <a:rPr sz="3200" b="1">
                <a:solidFill>
                  <a:srgbClr val="FF5D5D"/>
                </a:solidFill>
                <a:latin typeface="Unbounded"/>
              </a:rPr>
              <a:t>2 to 6</a:t>
            </a:r>
          </a:p>
        </p:txBody>
      </p:sp>
      <p:sp>
        <p:nvSpPr>
          <p:cNvPr id="23" name="TextBox 22"/>
          <p:cNvSpPr txBox="1"/>
          <p:nvPr/>
        </p:nvSpPr>
        <p:spPr>
          <a:xfrm>
            <a:off x="3566160" y="534924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backend pods (HPA)</a:t>
            </a:r>
          </a:p>
        </p:txBody>
      </p:sp>
      <p:sp>
        <p:nvSpPr>
          <p:cNvPr id="24" name="Rounded Rectangle 23"/>
          <p:cNvSpPr/>
          <p:nvPr/>
        </p:nvSpPr>
        <p:spPr>
          <a:xfrm>
            <a:off x="6172200" y="416052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389120"/>
            <a:ext cx="2286000" cy="822960"/>
          </a:xfrm>
          <a:prstGeom prst="rect">
            <a:avLst/>
          </a:prstGeom>
          <a:noFill/>
        </p:spPr>
        <p:txBody>
          <a:bodyPr wrap="square" anchor="ctr" lIns="0" rIns="0" tIns="0" bIns="0">
            <a:spAutoFit/>
          </a:bodyPr>
          <a:lstStyle/>
          <a:p>
            <a:pPr algn="l">
              <a:lnSpc>
                <a:spcPct val="110000"/>
              </a:lnSpc>
            </a:pPr>
            <a:r>
              <a:rPr sz="3200" b="1">
                <a:solidFill>
                  <a:srgbClr val="FFB547"/>
                </a:solidFill>
                <a:latin typeface="Unbounded"/>
              </a:rPr>
              <a:t>309 MB</a:t>
            </a:r>
          </a:p>
        </p:txBody>
      </p:sp>
      <p:sp>
        <p:nvSpPr>
          <p:cNvPr id="26" name="TextBox 25"/>
          <p:cNvSpPr txBox="1"/>
          <p:nvPr/>
        </p:nvSpPr>
        <p:spPr>
          <a:xfrm>
            <a:off x="6355080" y="534924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backend image</a:t>
            </a:r>
          </a:p>
        </p:txBody>
      </p:sp>
      <p:sp>
        <p:nvSpPr>
          <p:cNvPr id="27" name="Rounded Rectangle 26"/>
          <p:cNvSpPr/>
          <p:nvPr/>
        </p:nvSpPr>
        <p:spPr>
          <a:xfrm>
            <a:off x="8961119" y="4160520"/>
            <a:ext cx="2606040" cy="1965960"/>
          </a:xfrm>
          <a:prstGeom prst="roundRect">
            <a:avLst>
              <a:gd name="adj" fmla="val 10000"/>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3999" y="4389120"/>
            <a:ext cx="2286000" cy="822960"/>
          </a:xfrm>
          <a:prstGeom prst="rect">
            <a:avLst/>
          </a:prstGeom>
          <a:noFill/>
        </p:spPr>
        <p:txBody>
          <a:bodyPr wrap="square" anchor="ctr" lIns="0" rIns="0" tIns="0" bIns="0">
            <a:spAutoFit/>
          </a:bodyPr>
          <a:lstStyle/>
          <a:p>
            <a:pPr algn="l">
              <a:lnSpc>
                <a:spcPct val="110000"/>
              </a:lnSpc>
            </a:pPr>
            <a:r>
              <a:rPr sz="2600" b="1">
                <a:solidFill>
                  <a:srgbClr val="22D3EE"/>
                </a:solidFill>
                <a:latin typeface="Unbounded"/>
              </a:rPr>
              <a:t>90.5 MB</a:t>
            </a:r>
          </a:p>
        </p:txBody>
      </p:sp>
      <p:sp>
        <p:nvSpPr>
          <p:cNvPr id="29" name="TextBox 28"/>
          <p:cNvSpPr txBox="1"/>
          <p:nvPr/>
        </p:nvSpPr>
        <p:spPr>
          <a:xfrm>
            <a:off x="9143999" y="5349240"/>
            <a:ext cx="2286000" cy="548640"/>
          </a:xfrm>
          <a:prstGeom prst="rect">
            <a:avLst/>
          </a:prstGeom>
          <a:noFill/>
        </p:spPr>
        <p:txBody>
          <a:bodyPr wrap="square" anchor="t" lIns="0" rIns="0" tIns="0" bIns="0">
            <a:spAutoFit/>
          </a:bodyPr>
          <a:lstStyle/>
          <a:p>
            <a:pPr algn="l">
              <a:lnSpc>
                <a:spcPct val="110000"/>
              </a:lnSpc>
            </a:pPr>
            <a:r>
              <a:rPr sz="1800" b="0">
                <a:solidFill>
                  <a:srgbClr val="F5F7FA"/>
                </a:solidFill>
                <a:latin typeface="DM Sans"/>
              </a:rPr>
              <a:t>frontend image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id-viole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4360" y="457200"/>
            <a:ext cx="2016252" cy="402336"/>
          </a:xfrm>
          <a:prstGeom prst="roundRect">
            <a:avLst>
              <a:gd name="adj" fmla="val 50000"/>
            </a:avLst>
          </a:prstGeom>
          <a:solidFill>
            <a:srgbClr val="7C4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57200"/>
            <a:ext cx="2016252" cy="402336"/>
          </a:xfrm>
          <a:prstGeom prst="rect">
            <a:avLst/>
          </a:prstGeom>
          <a:noFill/>
        </p:spPr>
        <p:txBody>
          <a:bodyPr wrap="square" anchor="ctr" lIns="0" rIns="0" tIns="0" bIns="0">
            <a:spAutoFit/>
          </a:bodyPr>
          <a:lstStyle/>
          <a:p>
            <a:pPr algn="ctr">
              <a:lnSpc>
                <a:spcPct val="110000"/>
              </a:lnSpc>
            </a:pPr>
            <a:r>
              <a:rPr sz="1800" b="1">
                <a:solidFill>
                  <a:srgbClr val="F5F7FA"/>
                </a:solidFill>
                <a:latin typeface="DM Sans"/>
              </a:rPr>
              <a:t>18  LEARNED</a:t>
            </a:r>
          </a:p>
        </p:txBody>
      </p:sp>
      <p:sp>
        <p:nvSpPr>
          <p:cNvPr id="5" name="TextBox 4"/>
          <p:cNvSpPr txBox="1"/>
          <p:nvPr/>
        </p:nvSpPr>
        <p:spPr>
          <a:xfrm>
            <a:off x="594360" y="960120"/>
            <a:ext cx="10972800" cy="731520"/>
          </a:xfrm>
          <a:prstGeom prst="rect">
            <a:avLst/>
          </a:prstGeom>
          <a:noFill/>
        </p:spPr>
        <p:txBody>
          <a:bodyPr wrap="square" anchor="t" lIns="0" rIns="0" tIns="0" bIns="0">
            <a:spAutoFit/>
          </a:bodyPr>
          <a:lstStyle/>
          <a:p>
            <a:pPr algn="l">
              <a:lnSpc>
                <a:spcPct val="110000"/>
              </a:lnSpc>
            </a:pPr>
            <a:r>
              <a:rPr sz="3800" b="1">
                <a:solidFill>
                  <a:srgbClr val="F5F7FA"/>
                </a:solidFill>
                <a:latin typeface="Unbounded"/>
              </a:rPr>
              <a:t>What I learned</a:t>
            </a:r>
          </a:p>
        </p:txBody>
      </p:sp>
      <p:pic>
        <p:nvPicPr>
          <p:cNvPr id="6" name="Picture 5" descr="lightbulb.png"/>
          <p:cNvPicPr>
            <a:picLocks noChangeAspect="1"/>
          </p:cNvPicPr>
          <p:nvPr/>
        </p:nvPicPr>
        <p:blipFill>
          <a:blip r:embed="rId3"/>
          <a:stretch>
            <a:fillRect/>
          </a:stretch>
        </p:blipFill>
        <p:spPr>
          <a:xfrm>
            <a:off x="822960" y="2011680"/>
            <a:ext cx="868680" cy="868680"/>
          </a:xfrm>
          <a:prstGeom prst="rect">
            <a:avLst/>
          </a:prstGeom>
        </p:spPr>
      </p:pic>
      <p:sp>
        <p:nvSpPr>
          <p:cNvPr id="7" name="TextBox 6"/>
          <p:cNvSpPr txBox="1"/>
          <p:nvPr/>
        </p:nvSpPr>
        <p:spPr>
          <a:xfrm>
            <a:off x="2011680" y="2011680"/>
            <a:ext cx="9144000" cy="868680"/>
          </a:xfrm>
          <a:prstGeom prst="rect">
            <a:avLst/>
          </a:prstGeom>
          <a:noFill/>
        </p:spPr>
        <p:txBody>
          <a:bodyPr wrap="square" anchor="ctr" lIns="0" rIns="0" tIns="0" bIns="0">
            <a:spAutoFit/>
          </a:bodyPr>
          <a:lstStyle/>
          <a:p>
            <a:pPr algn="l">
              <a:lnSpc>
                <a:spcPct val="110000"/>
              </a:lnSpc>
            </a:pPr>
            <a:r>
              <a:rPr sz="3200" b="1">
                <a:solidFill>
                  <a:srgbClr val="F5F7FA"/>
                </a:solidFill>
                <a:latin typeface="DM Sans"/>
              </a:rPr>
              <a:t>One job per tool</a:t>
            </a:r>
          </a:p>
        </p:txBody>
      </p:sp>
      <p:pic>
        <p:nvPicPr>
          <p:cNvPr id="8" name="Picture 7" descr="lock.png"/>
          <p:cNvPicPr>
            <a:picLocks noChangeAspect="1"/>
          </p:cNvPicPr>
          <p:nvPr/>
        </p:nvPicPr>
        <p:blipFill>
          <a:blip r:embed="rId4"/>
          <a:stretch>
            <a:fillRect/>
          </a:stretch>
        </p:blipFill>
        <p:spPr>
          <a:xfrm>
            <a:off x="822960" y="3108960"/>
            <a:ext cx="868680" cy="868680"/>
          </a:xfrm>
          <a:prstGeom prst="rect">
            <a:avLst/>
          </a:prstGeom>
        </p:spPr>
      </p:pic>
      <p:sp>
        <p:nvSpPr>
          <p:cNvPr id="9" name="TextBox 8"/>
          <p:cNvSpPr txBox="1"/>
          <p:nvPr/>
        </p:nvSpPr>
        <p:spPr>
          <a:xfrm>
            <a:off x="2011680" y="3108960"/>
            <a:ext cx="9144000" cy="868680"/>
          </a:xfrm>
          <a:prstGeom prst="rect">
            <a:avLst/>
          </a:prstGeom>
          <a:noFill/>
        </p:spPr>
        <p:txBody>
          <a:bodyPr wrap="square" anchor="ctr" lIns="0" rIns="0" tIns="0" bIns="0">
            <a:spAutoFit/>
          </a:bodyPr>
          <a:lstStyle/>
          <a:p>
            <a:pPr algn="l">
              <a:lnSpc>
                <a:spcPct val="110000"/>
              </a:lnSpc>
            </a:pPr>
            <a:r>
              <a:rPr sz="3200" b="1">
                <a:solidFill>
                  <a:srgbClr val="F5F7FA"/>
                </a:solidFill>
                <a:latin typeface="DM Sans"/>
              </a:rPr>
              <a:t>Pin versions, scan images</a:t>
            </a:r>
          </a:p>
        </p:txBody>
      </p:sp>
      <p:pic>
        <p:nvPicPr>
          <p:cNvPr id="10" name="Picture 9" descr="git-commit.png"/>
          <p:cNvPicPr>
            <a:picLocks noChangeAspect="1"/>
          </p:cNvPicPr>
          <p:nvPr/>
        </p:nvPicPr>
        <p:blipFill>
          <a:blip r:embed="rId5"/>
          <a:stretch>
            <a:fillRect/>
          </a:stretch>
        </p:blipFill>
        <p:spPr>
          <a:xfrm>
            <a:off x="822960" y="4206240"/>
            <a:ext cx="868680" cy="868680"/>
          </a:xfrm>
          <a:prstGeom prst="rect">
            <a:avLst/>
          </a:prstGeom>
        </p:spPr>
      </p:pic>
      <p:sp>
        <p:nvSpPr>
          <p:cNvPr id="11" name="TextBox 10"/>
          <p:cNvSpPr txBox="1"/>
          <p:nvPr/>
        </p:nvSpPr>
        <p:spPr>
          <a:xfrm>
            <a:off x="2011680" y="4206240"/>
            <a:ext cx="9144000" cy="868680"/>
          </a:xfrm>
          <a:prstGeom prst="rect">
            <a:avLst/>
          </a:prstGeom>
          <a:noFill/>
        </p:spPr>
        <p:txBody>
          <a:bodyPr wrap="square" anchor="ctr" lIns="0" rIns="0" tIns="0" bIns="0">
            <a:spAutoFit/>
          </a:bodyPr>
          <a:lstStyle/>
          <a:p>
            <a:pPr algn="l">
              <a:lnSpc>
                <a:spcPct val="110000"/>
              </a:lnSpc>
            </a:pPr>
            <a:r>
              <a:rPr sz="3200" b="1">
                <a:solidFill>
                  <a:srgbClr val="F5F7FA"/>
                </a:solidFill>
                <a:latin typeface="DM Sans"/>
              </a:rPr>
              <a:t>Small commits, easy fixes</a:t>
            </a:r>
          </a:p>
        </p:txBody>
      </p:sp>
      <p:pic>
        <p:nvPicPr>
          <p:cNvPr id="12" name="Picture 11" descr="wrench.png"/>
          <p:cNvPicPr>
            <a:picLocks noChangeAspect="1"/>
          </p:cNvPicPr>
          <p:nvPr/>
        </p:nvPicPr>
        <p:blipFill>
          <a:blip r:embed="rId6"/>
          <a:stretch>
            <a:fillRect/>
          </a:stretch>
        </p:blipFill>
        <p:spPr>
          <a:xfrm>
            <a:off x="822960" y="5303520"/>
            <a:ext cx="868680" cy="868680"/>
          </a:xfrm>
          <a:prstGeom prst="rect">
            <a:avLst/>
          </a:prstGeom>
        </p:spPr>
      </p:pic>
      <p:sp>
        <p:nvSpPr>
          <p:cNvPr id="13" name="TextBox 12"/>
          <p:cNvSpPr txBox="1"/>
          <p:nvPr/>
        </p:nvSpPr>
        <p:spPr>
          <a:xfrm>
            <a:off x="2011680" y="5303520"/>
            <a:ext cx="9144000" cy="868680"/>
          </a:xfrm>
          <a:prstGeom prst="rect">
            <a:avLst/>
          </a:prstGeom>
          <a:noFill/>
        </p:spPr>
        <p:txBody>
          <a:bodyPr wrap="square" anchor="ctr" lIns="0" rIns="0" tIns="0" bIns="0">
            <a:spAutoFit/>
          </a:bodyPr>
          <a:lstStyle/>
          <a:p>
            <a:pPr algn="l">
              <a:lnSpc>
                <a:spcPct val="110000"/>
              </a:lnSpc>
            </a:pPr>
            <a:r>
              <a:rPr sz="3200" b="1">
                <a:solidFill>
                  <a:srgbClr val="F5F7FA"/>
                </a:solidFill>
                <a:latin typeface="DM Sans"/>
              </a:rPr>
              <a:t>Break it, then fix it</a:t>
            </a:r>
          </a:p>
        </p:txBody>
      </p:sp>
      <p:pic>
        <p:nvPicPr>
          <p:cNvPr id="14" name="Picture 13" descr="stage-code.png"/>
          <p:cNvPicPr>
            <a:picLocks noChangeAspect="1"/>
          </p:cNvPicPr>
          <p:nvPr/>
        </p:nvPicPr>
        <p:blipFill>
          <a:blip r:embed="rId7"/>
          <a:stretch>
            <a:fillRect/>
          </a:stretch>
        </p:blipFill>
        <p:spPr>
          <a:xfrm>
            <a:off x="7498079" y="2194560"/>
            <a:ext cx="960120" cy="960120"/>
          </a:xfrm>
          <a:prstGeom prst="rect">
            <a:avLst/>
          </a:prstGeom>
        </p:spPr>
      </p:pic>
      <p:pic>
        <p:nvPicPr>
          <p:cNvPr id="15" name="Picture 14" descr="stage-test.png"/>
          <p:cNvPicPr>
            <a:picLocks noChangeAspect="1"/>
          </p:cNvPicPr>
          <p:nvPr/>
        </p:nvPicPr>
        <p:blipFill>
          <a:blip r:embed="rId8"/>
          <a:stretch>
            <a:fillRect/>
          </a:stretch>
        </p:blipFill>
        <p:spPr>
          <a:xfrm>
            <a:off x="8595359" y="2194560"/>
            <a:ext cx="960120" cy="960120"/>
          </a:xfrm>
          <a:prstGeom prst="rect">
            <a:avLst/>
          </a:prstGeom>
        </p:spPr>
      </p:pic>
      <p:pic>
        <p:nvPicPr>
          <p:cNvPr id="16" name="Picture 15" descr="stage-build.png"/>
          <p:cNvPicPr>
            <a:picLocks noChangeAspect="1"/>
          </p:cNvPicPr>
          <p:nvPr/>
        </p:nvPicPr>
        <p:blipFill>
          <a:blip r:embed="rId9"/>
          <a:stretch>
            <a:fillRect/>
          </a:stretch>
        </p:blipFill>
        <p:spPr>
          <a:xfrm>
            <a:off x="9692640" y="2194560"/>
            <a:ext cx="960120" cy="960120"/>
          </a:xfrm>
          <a:prstGeom prst="rect">
            <a:avLst/>
          </a:prstGeom>
        </p:spPr>
      </p:pic>
      <p:pic>
        <p:nvPicPr>
          <p:cNvPr id="17" name="Picture 16" descr="stage-scan.png"/>
          <p:cNvPicPr>
            <a:picLocks noChangeAspect="1"/>
          </p:cNvPicPr>
          <p:nvPr/>
        </p:nvPicPr>
        <p:blipFill>
          <a:blip r:embed="rId10"/>
          <a:stretch>
            <a:fillRect/>
          </a:stretch>
        </p:blipFill>
        <p:spPr>
          <a:xfrm>
            <a:off x="10789919" y="2194560"/>
            <a:ext cx="960120" cy="960120"/>
          </a:xfrm>
          <a:prstGeom prst="rect">
            <a:avLst/>
          </a:prstGeom>
        </p:spPr>
      </p:pic>
      <p:pic>
        <p:nvPicPr>
          <p:cNvPr id="18" name="Picture 17" descr="stage-provision.png"/>
          <p:cNvPicPr>
            <a:picLocks noChangeAspect="1"/>
          </p:cNvPicPr>
          <p:nvPr/>
        </p:nvPicPr>
        <p:blipFill>
          <a:blip r:embed="rId11"/>
          <a:stretch>
            <a:fillRect/>
          </a:stretch>
        </p:blipFill>
        <p:spPr>
          <a:xfrm>
            <a:off x="7498079" y="3383280"/>
            <a:ext cx="960120" cy="960120"/>
          </a:xfrm>
          <a:prstGeom prst="rect">
            <a:avLst/>
          </a:prstGeom>
        </p:spPr>
      </p:pic>
      <p:pic>
        <p:nvPicPr>
          <p:cNvPr id="19" name="Picture 18" descr="stage-deploy.png"/>
          <p:cNvPicPr>
            <a:picLocks noChangeAspect="1"/>
          </p:cNvPicPr>
          <p:nvPr/>
        </p:nvPicPr>
        <p:blipFill>
          <a:blip r:embed="rId12"/>
          <a:stretch>
            <a:fillRect/>
          </a:stretch>
        </p:blipFill>
        <p:spPr>
          <a:xfrm>
            <a:off x="8595359" y="3383280"/>
            <a:ext cx="960120" cy="960120"/>
          </a:xfrm>
          <a:prstGeom prst="rect">
            <a:avLst/>
          </a:prstGeom>
        </p:spPr>
      </p:pic>
      <p:pic>
        <p:nvPicPr>
          <p:cNvPr id="20" name="Picture 19" descr="stage-monitor.png"/>
          <p:cNvPicPr>
            <a:picLocks noChangeAspect="1"/>
          </p:cNvPicPr>
          <p:nvPr/>
        </p:nvPicPr>
        <p:blipFill>
          <a:blip r:embed="rId13"/>
          <a:stretch>
            <a:fillRect/>
          </a:stretch>
        </p:blipFill>
        <p:spPr>
          <a:xfrm>
            <a:off x="9692640" y="3383280"/>
            <a:ext cx="960120" cy="960120"/>
          </a:xfrm>
          <a:prstGeom prst="rect">
            <a:avLst/>
          </a:prstGeom>
        </p:spPr>
      </p:pic>
      <p:sp>
        <p:nvSpPr>
          <p:cNvPr id="21" name="TextBox 20"/>
          <p:cNvSpPr txBox="1"/>
          <p:nvPr/>
        </p:nvSpPr>
        <p:spPr>
          <a:xfrm>
            <a:off x="7498079" y="4572000"/>
            <a:ext cx="4206240" cy="457200"/>
          </a:xfrm>
          <a:prstGeom prst="rect">
            <a:avLst/>
          </a:prstGeom>
          <a:noFill/>
        </p:spPr>
        <p:txBody>
          <a:bodyPr wrap="square" anchor="t" lIns="0" rIns="0" tIns="0" bIns="0">
            <a:spAutoFit/>
          </a:bodyPr>
          <a:lstStyle/>
          <a:p>
            <a:pPr algn="l">
              <a:lnSpc>
                <a:spcPct val="110000"/>
              </a:lnSpc>
            </a:pPr>
            <a:r>
              <a:rPr sz="2000" b="0">
                <a:solidFill>
                  <a:srgbClr val="9AA4C4"/>
                </a:solidFill>
                <a:latin typeface="DM Sans"/>
              </a:rPr>
              <a:t>Seven stages, one pipeline.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1828800"/>
            <a:ext cx="7315200" cy="1280160"/>
          </a:xfrm>
          <a:prstGeom prst="rect">
            <a:avLst/>
          </a:prstGeom>
          <a:noFill/>
        </p:spPr>
        <p:txBody>
          <a:bodyPr wrap="square" anchor="t" lIns="0" rIns="0" tIns="0" bIns="0">
            <a:spAutoFit/>
          </a:bodyPr>
          <a:lstStyle/>
          <a:p>
            <a:pPr algn="l">
              <a:lnSpc>
                <a:spcPct val="110000"/>
              </a:lnSpc>
            </a:pPr>
            <a:r>
              <a:rPr sz="7200" b="1">
                <a:solidFill>
                  <a:srgbClr val="C6FF3D"/>
                </a:solidFill>
                <a:latin typeface="Unbounded"/>
              </a:rPr>
              <a:t>Thank you</a:t>
            </a:r>
          </a:p>
        </p:txBody>
      </p:sp>
      <p:sp>
        <p:nvSpPr>
          <p:cNvPr id="4" name="TextBox 3"/>
          <p:cNvSpPr txBox="1"/>
          <p:nvPr/>
        </p:nvSpPr>
        <p:spPr>
          <a:xfrm>
            <a:off x="731520" y="3291840"/>
            <a:ext cx="6858000" cy="822960"/>
          </a:xfrm>
          <a:prstGeom prst="rect">
            <a:avLst/>
          </a:prstGeom>
          <a:noFill/>
        </p:spPr>
        <p:txBody>
          <a:bodyPr wrap="square" anchor="t" lIns="0" rIns="0" tIns="0" bIns="0">
            <a:spAutoFit/>
          </a:bodyPr>
          <a:lstStyle/>
          <a:p>
            <a:pPr algn="l">
              <a:lnSpc>
                <a:spcPct val="110000"/>
              </a:lnSpc>
            </a:pPr>
            <a:r>
              <a:rPr sz="2800" b="0">
                <a:solidFill>
                  <a:srgbClr val="F5F7FA"/>
                </a:solidFill>
                <a:latin typeface="DM Sans"/>
              </a:rPr>
              <a:t>From code to a monitored cluster.</a:t>
            </a:r>
          </a:p>
        </p:txBody>
      </p:sp>
      <p:sp>
        <p:nvSpPr>
          <p:cNvPr id="5" name="TextBox 4"/>
          <p:cNvSpPr txBox="1"/>
          <p:nvPr/>
        </p:nvSpPr>
        <p:spPr>
          <a:xfrm>
            <a:off x="731520" y="4754880"/>
            <a:ext cx="7315200" cy="457200"/>
          </a:xfrm>
          <a:prstGeom prst="rect">
            <a:avLst/>
          </a:prstGeom>
          <a:noFill/>
        </p:spPr>
        <p:txBody>
          <a:bodyPr wrap="square" anchor="t" lIns="0" rIns="0" tIns="0" bIns="0">
            <a:spAutoFit/>
          </a:bodyPr>
          <a:lstStyle/>
          <a:p>
            <a:pPr algn="l">
              <a:lnSpc>
                <a:spcPct val="110000"/>
              </a:lnSpc>
            </a:pPr>
            <a:r>
              <a:rPr sz="2000" b="0">
                <a:solidFill>
                  <a:srgbClr val="22D3EE"/>
                </a:solidFill>
                <a:latin typeface="JetBrains Mono"/>
              </a:rPr>
              <a:t>github.com/brixdorf/ironpass-devops-capstone</a:t>
            </a:r>
          </a:p>
        </p:txBody>
      </p:sp>
      <p:sp>
        <p:nvSpPr>
          <p:cNvPr id="6" name="Rounded Rectangle 5"/>
          <p:cNvSpPr/>
          <p:nvPr/>
        </p:nvSpPr>
        <p:spPr>
          <a:xfrm>
            <a:off x="8412480" y="1737360"/>
            <a:ext cx="3200400" cy="320040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3"/>
          <a:stretch>
            <a:fillRect/>
          </a:stretch>
        </p:blipFill>
        <p:spPr>
          <a:xfrm>
            <a:off x="8595360" y="1920240"/>
            <a:ext cx="2834640" cy="2834640"/>
          </a:xfrm>
          <a:prstGeom prst="rect">
            <a:avLst/>
          </a:prstGeom>
        </p:spPr>
      </p:pic>
      <p:sp>
        <p:nvSpPr>
          <p:cNvPr id="8" name="TextBox 7"/>
          <p:cNvSpPr txBox="1"/>
          <p:nvPr/>
        </p:nvSpPr>
        <p:spPr>
          <a:xfrm>
            <a:off x="8412480" y="5120640"/>
            <a:ext cx="3200400" cy="365760"/>
          </a:xfrm>
          <a:prstGeom prst="rect">
            <a:avLst/>
          </a:prstGeom>
          <a:noFill/>
        </p:spPr>
        <p:txBody>
          <a:bodyPr wrap="square" anchor="t" lIns="0" rIns="0" tIns="0" bIns="0">
            <a:spAutoFit/>
          </a:bodyPr>
          <a:lstStyle/>
          <a:p>
            <a:pPr algn="ctr">
              <a:lnSpc>
                <a:spcPct val="110000"/>
              </a:lnSpc>
            </a:pPr>
            <a:r>
              <a:rPr sz="1800" b="0">
                <a:solidFill>
                  <a:srgbClr val="9AA4C4"/>
                </a:solidFill>
                <a:latin typeface="DM Sans"/>
              </a:rPr>
              <a:t>Scan to open the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