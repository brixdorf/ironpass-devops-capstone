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 am Romit. This is IronPass, a gym membership app. The app is small, but the point of this project is the journey. It goes from my laptop, through tests, containers and a pipeline, to a Kubernetes cluster on AWS with monitoring.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gym front desk needs to know if a member can walk in. IronPass keeps members, plans and check-ins. The API enforces one real rule. If the plan has expired, the check-in is rejected with a clear message. The frontend is React, the backend is FastAPI, and the data is in PostgreSQL.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picture. A developer pushes to GitHub. GitHub Actions tests, builds, scans and pushes images. Terraform builds the network and the cluster. Helm puts the app on the cluster. The Ingress is the single door. Prometheus scrapes the backend and Grafana draws the graphs.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command starts the whole stack, docker compose up --build. Postgres, the backend and the frontend all come up. The backend runs as user 10001 and nginx runs as user 101, so neither is root. The frontend image is a multi-stage build, so Node is not in the final image.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seventeen pytest cases across health, plans, members, check-ins and stats. They use an in-memory SQLite database, so they are fast and safe. One test proves that an expired member cannot check in, and another proves that renewing fixes it. The pipeline runs these before any image is built.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worked in small commits, one logical change each, in build order. The messages say what changed in plain words. The gitignore keeps secrets, caches and Terraform state out of the repo.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push to main runs the pipeline. First pytest and the frontend build. Then both images are built, scanned by Trivy, and only then pushed to GHCR with the commit SHA as the tag. The last job deploys with Helm. It signs in to AWS using OIDC, so there are no stored keys.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Trivy scans both images for high and critical problems that already have a fix. My first runs failed on purpose. The backend had seven findings and the frontend had forty one. I upgraded the libraries, removed pip from the runtime image and moved to a current nginx base. Then both scans were clean. Clean means no known fixable problem today, not safe forever.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the AWS infrastructure is code. A VPC with two public and two private subnets, one NAT gateway, and an EKS cluster with a managed node group. Terraform also creates the GitHub OIDC provider and a deploy role that only the main branch of this repo can assume. Every resource is tagged Project ironpass and ManagedBy terraform.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Helm chart holds everything. Two Deployments with two replicas each, ClusterIP services, a PostgreSQL deployment with a volume claim, an Ingress, an HPA and a ServiceMonitor. Probes use health and ready. The ready endpoint checks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Ingress sends slash to the frontend and slash api to the backend, on one load balancer address. For autoscaling, the HPA watches backend CPU. My load script sends steady traffic, CPU rises, and the replica count grows.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Prometheus scrapes the backend metrics endpoint, and the target is up. Grafana has a provisioned dashboard with request rate, latency and error rate, plus CPU and replicas. You can see them move during the load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made two broken manifests on purpose. The first has an image tag that does not exist, so the pod goes to ImagePullBackOff. The second has a typo in the service selector, so the service has no endpoints. Describe and get endpoints show the cause, and the fix is one command each.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lesson is that each tool has one job and the pipeline joins them. A scanner that fails the build is useful, because it made me fix real findings. Small commits made problems easy to find. And cost matters, so I wrote a teardown script that removes the load balancer before the network.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181D"/>
        </a:solidFill>
        <a:effectLst/>
      </p:bgPr>
    </p:bg>
    <p:spTree>
      <p:nvGrpSpPr>
        <p:cNvPr id="1" name=""/>
        <p:cNvGrpSpPr/>
        <p:nvPr/>
      </p:nvGrpSpPr>
      <p:grpSpPr/>
      <p:sp>
        <p:nvSpPr>
          <p:cNvPr id="2" name="Rectangle 1"/>
          <p:cNvSpPr/>
          <p:nvPr/>
        </p:nvSpPr>
        <p:spPr>
          <a:xfrm>
            <a:off x="731520" y="2377440"/>
            <a:ext cx="320040" cy="173736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194560"/>
            <a:ext cx="10058400" cy="1097280"/>
          </a:xfrm>
          <a:prstGeom prst="rect">
            <a:avLst/>
          </a:prstGeom>
          <a:noFill/>
        </p:spPr>
        <p:txBody>
          <a:bodyPr wrap="square" anchor="t" lIns="45720" rIns="45720">
            <a:spAutoFit/>
          </a:bodyPr>
          <a:lstStyle/>
          <a:p>
            <a:pPr algn="l"/>
            <a:r>
              <a:rPr sz="6600" b="1">
                <a:solidFill>
                  <a:srgbClr val="FFFFFF"/>
                </a:solidFill>
                <a:latin typeface="Arial"/>
              </a:rPr>
              <a:t>IronPass</a:t>
            </a:r>
          </a:p>
        </p:txBody>
      </p:sp>
      <p:sp>
        <p:nvSpPr>
          <p:cNvPr id="4" name="TextBox 3"/>
          <p:cNvSpPr txBox="1"/>
          <p:nvPr/>
        </p:nvSpPr>
        <p:spPr>
          <a:xfrm>
            <a:off x="1371600" y="3246120"/>
            <a:ext cx="10058400" cy="914400"/>
          </a:xfrm>
          <a:prstGeom prst="rect">
            <a:avLst/>
          </a:prstGeom>
          <a:noFill/>
        </p:spPr>
        <p:txBody>
          <a:bodyPr wrap="square" anchor="t" lIns="45720" rIns="45720">
            <a:spAutoFit/>
          </a:bodyPr>
          <a:lstStyle/>
          <a:p>
            <a:pPr algn="l"/>
            <a:r>
              <a:rPr sz="2800" b="0">
                <a:solidFill>
                  <a:srgbClr val="F4F1EA"/>
                </a:solidFill>
                <a:latin typeface="Arial"/>
              </a:rPr>
              <a:t>From a gym membership app to a monitored Kubernetes cluster</a:t>
            </a:r>
          </a:p>
        </p:txBody>
      </p:sp>
      <p:sp>
        <p:nvSpPr>
          <p:cNvPr id="5" name="TextBox 4"/>
          <p:cNvSpPr txBox="1"/>
          <p:nvPr/>
        </p:nvSpPr>
        <p:spPr>
          <a:xfrm>
            <a:off x="1371600" y="4937760"/>
            <a:ext cx="10058400" cy="548640"/>
          </a:xfrm>
          <a:prstGeom prst="rect">
            <a:avLst/>
          </a:prstGeom>
          <a:noFill/>
        </p:spPr>
        <p:txBody>
          <a:bodyPr wrap="square" anchor="t" lIns="45720" rIns="45720">
            <a:spAutoFit/>
          </a:bodyPr>
          <a:lstStyle/>
          <a:p>
            <a:pPr algn="l"/>
            <a:r>
              <a:rPr sz="2000" b="1">
                <a:solidFill>
                  <a:srgbClr val="FF5A1F"/>
                </a:solidFill>
                <a:latin typeface="Arial"/>
              </a:rPr>
              <a:t>DevOps final capstone  |  Romit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The problem and the app</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2</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20624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Members, plans and check-ins</a:t>
            </a:r>
          </a:p>
          <a:p>
            <a:pPr>
              <a:spcAft>
                <a:spcPts val="1000"/>
              </a:spcAft>
            </a:pPr>
            <a:r>
              <a:rPr sz="1400">
                <a:solidFill>
                  <a:srgbClr val="FF5A1F"/>
                </a:solidFill>
                <a:latin typeface="Arial"/>
              </a:rPr>
              <a:t>■  </a:t>
            </a:r>
            <a:r>
              <a:rPr sz="2200">
                <a:solidFill>
                  <a:srgbClr val="16181D"/>
                </a:solidFill>
                <a:latin typeface="Arial"/>
              </a:rPr>
              <a:t>Rule: expired plan means no check-in</a:t>
            </a:r>
          </a:p>
          <a:p>
            <a:pPr>
              <a:spcAft>
                <a:spcPts val="1000"/>
              </a:spcAft>
            </a:pPr>
            <a:r>
              <a:rPr sz="1400">
                <a:solidFill>
                  <a:srgbClr val="FF5A1F"/>
                </a:solidFill>
                <a:latin typeface="Arial"/>
              </a:rPr>
              <a:t>■  </a:t>
            </a:r>
            <a:r>
              <a:rPr sz="2200">
                <a:solidFill>
                  <a:srgbClr val="16181D"/>
                </a:solidFill>
                <a:latin typeface="Arial"/>
              </a:rPr>
              <a:t>React + FastAPI + PostgreSQL</a:t>
            </a:r>
          </a:p>
          <a:p>
            <a:pPr>
              <a:spcAft>
                <a:spcPts val="1000"/>
              </a:spcAft>
            </a:pPr>
            <a:r>
              <a:rPr sz="1400">
                <a:solidFill>
                  <a:srgbClr val="FF5A1F"/>
                </a:solidFill>
                <a:latin typeface="Arial"/>
              </a:rPr>
              <a:t>■  </a:t>
            </a:r>
            <a:r>
              <a:rPr sz="2200">
                <a:solidFill>
                  <a:srgbClr val="16181D"/>
                </a:solidFill>
                <a:latin typeface="Arial"/>
              </a:rPr>
              <a:t>12 REST endpoints, /health, /ready, /metrics</a:t>
            </a:r>
          </a:p>
        </p:txBody>
      </p:sp>
      <p:sp>
        <p:nvSpPr>
          <p:cNvPr id="7" name="Rectangle 6"/>
          <p:cNvSpPr/>
          <p:nvPr/>
        </p:nvSpPr>
        <p:spPr>
          <a:xfrm>
            <a:off x="4919117" y="1152144"/>
            <a:ext cx="6895284" cy="5102352"/>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app-running-localhost-3000.png"/>
          <p:cNvPicPr>
            <a:picLocks noChangeAspect="1"/>
          </p:cNvPicPr>
          <p:nvPr/>
        </p:nvPicPr>
        <p:blipFill>
          <a:blip r:embed="rId3"/>
          <a:stretch>
            <a:fillRect/>
          </a:stretch>
        </p:blipFill>
        <p:spPr>
          <a:xfrm>
            <a:off x="4955693" y="1188720"/>
            <a:ext cx="6822132"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Architecture</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3</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Rounded Rectangle 5"/>
          <p:cNvSpPr/>
          <p:nvPr/>
        </p:nvSpPr>
        <p:spPr>
          <a:xfrm>
            <a:off x="548640" y="1371600"/>
            <a:ext cx="182880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Developer</a:t>
            </a:r>
          </a:p>
        </p:txBody>
      </p:sp>
      <p:sp>
        <p:nvSpPr>
          <p:cNvPr id="7" name="Right Arrow 6"/>
          <p:cNvSpPr/>
          <p:nvPr/>
        </p:nvSpPr>
        <p:spPr>
          <a:xfrm>
            <a:off x="2468880" y="1572768"/>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17520" y="1371600"/>
            <a:ext cx="20116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GitHub</a:t>
            </a:r>
          </a:p>
        </p:txBody>
      </p:sp>
      <p:sp>
        <p:nvSpPr>
          <p:cNvPr id="9" name="Right Arrow 8"/>
          <p:cNvSpPr/>
          <p:nvPr/>
        </p:nvSpPr>
        <p:spPr>
          <a:xfrm>
            <a:off x="5120640" y="1572768"/>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69280" y="1371600"/>
            <a:ext cx="237744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GitHub Actions</a:t>
            </a:r>
          </a:p>
        </p:txBody>
      </p:sp>
      <p:sp>
        <p:nvSpPr>
          <p:cNvPr id="11" name="Right Arrow 10"/>
          <p:cNvSpPr/>
          <p:nvPr/>
        </p:nvSpPr>
        <p:spPr>
          <a:xfrm>
            <a:off x="8138160" y="1572768"/>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0" y="1371600"/>
            <a:ext cx="237744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GHCR images</a:t>
            </a:r>
          </a:p>
        </p:txBody>
      </p:sp>
      <p:sp>
        <p:nvSpPr>
          <p:cNvPr id="13" name="Rounded Rectangle 12"/>
          <p:cNvSpPr/>
          <p:nvPr/>
        </p:nvSpPr>
        <p:spPr>
          <a:xfrm>
            <a:off x="548640" y="2651760"/>
            <a:ext cx="11064240" cy="3383280"/>
          </a:xfrm>
          <a:prstGeom prst="roundRect">
            <a:avLst/>
          </a:prstGeom>
          <a:solidFill>
            <a:srgbClr val="FFFFFF"/>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697480"/>
            <a:ext cx="7315200" cy="365760"/>
          </a:xfrm>
          <a:prstGeom prst="rect">
            <a:avLst/>
          </a:prstGeom>
          <a:noFill/>
        </p:spPr>
        <p:txBody>
          <a:bodyPr wrap="square" anchor="t" lIns="45720" rIns="45720">
            <a:spAutoFit/>
          </a:bodyPr>
          <a:lstStyle/>
          <a:p>
            <a:pPr algn="l"/>
            <a:r>
              <a:rPr sz="1400" b="1">
                <a:solidFill>
                  <a:srgbClr val="4A4F5A"/>
                </a:solidFill>
                <a:latin typeface="Arial"/>
              </a:rPr>
              <a:t>AWS ap-south-1  |  VPC  |  EKS (built by Terraform)</a:t>
            </a:r>
          </a:p>
        </p:txBody>
      </p:sp>
      <p:sp>
        <p:nvSpPr>
          <p:cNvPr id="15" name="Rounded Rectangle 14"/>
          <p:cNvSpPr/>
          <p:nvPr/>
        </p:nvSpPr>
        <p:spPr>
          <a:xfrm>
            <a:off x="822960" y="3657600"/>
            <a:ext cx="2194560" cy="91440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Ingress NGINX</a:t>
            </a:r>
          </a:p>
        </p:txBody>
      </p:sp>
      <p:sp>
        <p:nvSpPr>
          <p:cNvPr id="16" name="Right Arrow 15"/>
          <p:cNvSpPr/>
          <p:nvPr/>
        </p:nvSpPr>
        <p:spPr>
          <a:xfrm>
            <a:off x="3108960" y="3931920"/>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657600" y="3200400"/>
            <a:ext cx="2377440" cy="731520"/>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rial"/>
              </a:rPr>
              <a:t>Frontend x2</a:t>
            </a:r>
          </a:p>
        </p:txBody>
      </p:sp>
      <p:sp>
        <p:nvSpPr>
          <p:cNvPr id="18" name="Rounded Rectangle 17"/>
          <p:cNvSpPr/>
          <p:nvPr/>
        </p:nvSpPr>
        <p:spPr>
          <a:xfrm>
            <a:off x="3657600" y="4297680"/>
            <a:ext cx="2377440" cy="731520"/>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Arial"/>
              </a:rPr>
              <a:t>Backend x2 (HPA)</a:t>
            </a:r>
          </a:p>
        </p:txBody>
      </p:sp>
      <p:sp>
        <p:nvSpPr>
          <p:cNvPr id="19" name="Right Arrow 18"/>
          <p:cNvSpPr/>
          <p:nvPr/>
        </p:nvSpPr>
        <p:spPr>
          <a:xfrm>
            <a:off x="6126480" y="4480560"/>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675120" y="4297680"/>
            <a:ext cx="2011680" cy="73152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PostgreSQL + PVC</a:t>
            </a:r>
          </a:p>
        </p:txBody>
      </p:sp>
      <p:sp>
        <p:nvSpPr>
          <p:cNvPr id="21" name="Rounded Rectangle 20"/>
          <p:cNvSpPr/>
          <p:nvPr/>
        </p:nvSpPr>
        <p:spPr>
          <a:xfrm>
            <a:off x="6675120" y="5212080"/>
            <a:ext cx="2011680" cy="64008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Prometheus</a:t>
            </a:r>
          </a:p>
        </p:txBody>
      </p:sp>
      <p:sp>
        <p:nvSpPr>
          <p:cNvPr id="22" name="Right Arrow 21"/>
          <p:cNvSpPr/>
          <p:nvPr/>
        </p:nvSpPr>
        <p:spPr>
          <a:xfrm>
            <a:off x="8778240" y="5303520"/>
            <a:ext cx="411480" cy="320040"/>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326880" y="5212080"/>
            <a:ext cx="2011680" cy="64008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16181D"/>
                </a:solidFill>
                <a:latin typeface="Arial"/>
              </a:rPr>
              <a:t>Grafana</a:t>
            </a:r>
          </a:p>
        </p:txBody>
      </p:sp>
      <p:sp>
        <p:nvSpPr>
          <p:cNvPr id="24" name="TextBox 23"/>
          <p:cNvSpPr txBox="1"/>
          <p:nvPr/>
        </p:nvSpPr>
        <p:spPr>
          <a:xfrm>
            <a:off x="822960" y="4937760"/>
            <a:ext cx="2743200" cy="914400"/>
          </a:xfrm>
          <a:prstGeom prst="rect">
            <a:avLst/>
          </a:prstGeom>
          <a:noFill/>
        </p:spPr>
        <p:txBody>
          <a:bodyPr wrap="square" anchor="t" lIns="45720" rIns="45720">
            <a:spAutoFit/>
          </a:bodyPr>
          <a:lstStyle/>
          <a:p>
            <a:pPr algn="l"/>
            <a:r>
              <a:rPr sz="1400" b="0">
                <a:solidFill>
                  <a:srgbClr val="4A4F5A"/>
                </a:solidFill>
                <a:latin typeface="Arial"/>
              </a:rPr>
              <a:t>/  goes to the frontend</a:t>
            </a:r>
          </a:p>
          <a:p>
            <a:pPr algn="l"/>
            <a:r>
              <a:rPr sz="1400" b="0">
                <a:solidFill>
                  <a:srgbClr val="4A4F5A"/>
                </a:solidFill>
                <a:latin typeface="Arial"/>
              </a:rPr>
              <a:t>/api goes to the backend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Run it locally with Docker</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4</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docker compose up --build</a:t>
            </a:r>
          </a:p>
          <a:p>
            <a:pPr>
              <a:spcAft>
                <a:spcPts val="1000"/>
              </a:spcAft>
            </a:pPr>
            <a:r>
              <a:rPr sz="1400">
                <a:solidFill>
                  <a:srgbClr val="FF5A1F"/>
                </a:solidFill>
                <a:latin typeface="Arial"/>
              </a:rPr>
              <a:t>■  </a:t>
            </a:r>
            <a:r>
              <a:rPr sz="2200">
                <a:solidFill>
                  <a:srgbClr val="16181D"/>
                </a:solidFill>
                <a:latin typeface="Arial"/>
              </a:rPr>
              <a:t>3 services: frontend, backend, postgres</a:t>
            </a:r>
          </a:p>
          <a:p>
            <a:pPr>
              <a:spcAft>
                <a:spcPts val="1000"/>
              </a:spcAft>
            </a:pPr>
            <a:r>
              <a:rPr sz="1400">
                <a:solidFill>
                  <a:srgbClr val="FF5A1F"/>
                </a:solidFill>
                <a:latin typeface="Arial"/>
              </a:rPr>
              <a:t>■  </a:t>
            </a:r>
            <a:r>
              <a:rPr sz="2200">
                <a:solidFill>
                  <a:srgbClr val="16181D"/>
                </a:solidFill>
                <a:latin typeface="Arial"/>
              </a:rPr>
              <a:t>Frontend: multi-stage, unprivileged nginx</a:t>
            </a:r>
          </a:p>
          <a:p>
            <a:pPr>
              <a:spcAft>
                <a:spcPts val="1000"/>
              </a:spcAft>
            </a:pPr>
            <a:r>
              <a:rPr sz="1400">
                <a:solidFill>
                  <a:srgbClr val="FF5A1F"/>
                </a:solidFill>
                <a:latin typeface="Arial"/>
              </a:rPr>
              <a:t>■  </a:t>
            </a:r>
            <a:r>
              <a:rPr sz="2200">
                <a:solidFill>
                  <a:srgbClr val="16181D"/>
                </a:solidFill>
                <a:latin typeface="Arial"/>
              </a:rPr>
              <a:t>Both images run as non-root</a:t>
            </a:r>
          </a:p>
        </p:txBody>
      </p:sp>
      <p:sp>
        <p:nvSpPr>
          <p:cNvPr id="7" name="Rectangle 6"/>
          <p:cNvSpPr/>
          <p:nvPr/>
        </p:nvSpPr>
        <p:spPr>
          <a:xfrm>
            <a:off x="4718304" y="2302507"/>
            <a:ext cx="7114032" cy="2710185"/>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mpose.png"/>
          <p:cNvPicPr>
            <a:picLocks noChangeAspect="1"/>
          </p:cNvPicPr>
          <p:nvPr/>
        </p:nvPicPr>
        <p:blipFill>
          <a:blip r:embed="rId3"/>
          <a:stretch>
            <a:fillRect/>
          </a:stretch>
        </p:blipFill>
        <p:spPr>
          <a:xfrm>
            <a:off x="4754880" y="2339083"/>
            <a:ext cx="7040880" cy="263703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Tests</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5</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17 tests, all passing</a:t>
            </a:r>
          </a:p>
          <a:p>
            <a:pPr>
              <a:spcAft>
                <a:spcPts val="1000"/>
              </a:spcAft>
            </a:pPr>
            <a:r>
              <a:rPr sz="1400">
                <a:solidFill>
                  <a:srgbClr val="FF5A1F"/>
                </a:solidFill>
                <a:latin typeface="Arial"/>
              </a:rPr>
              <a:t>■  </a:t>
            </a:r>
            <a:r>
              <a:rPr sz="2200">
                <a:solidFill>
                  <a:srgbClr val="16181D"/>
                </a:solidFill>
                <a:latin typeface="Arial"/>
              </a:rPr>
              <a:t>SQLite test database</a:t>
            </a:r>
          </a:p>
          <a:p>
            <a:pPr>
              <a:spcAft>
                <a:spcPts val="1000"/>
              </a:spcAft>
            </a:pPr>
            <a:r>
              <a:rPr sz="1400">
                <a:solidFill>
                  <a:srgbClr val="FF5A1F"/>
                </a:solidFill>
                <a:latin typeface="Arial"/>
              </a:rPr>
              <a:t>■  </a:t>
            </a:r>
            <a:r>
              <a:rPr sz="2200">
                <a:solidFill>
                  <a:srgbClr val="16181D"/>
                </a:solidFill>
                <a:latin typeface="Arial"/>
              </a:rPr>
              <a:t>Rule tested: expired plan is rejected</a:t>
            </a:r>
          </a:p>
          <a:p>
            <a:pPr>
              <a:spcAft>
                <a:spcPts val="1000"/>
              </a:spcAft>
            </a:pPr>
            <a:r>
              <a:rPr sz="1400">
                <a:solidFill>
                  <a:srgbClr val="FF5A1F"/>
                </a:solidFill>
                <a:latin typeface="Arial"/>
              </a:rPr>
              <a:t>■  </a:t>
            </a:r>
            <a:r>
              <a:rPr sz="2200">
                <a:solidFill>
                  <a:srgbClr val="16181D"/>
                </a:solidFill>
                <a:latin typeface="Arial"/>
              </a:rPr>
              <a:t>Runs first in the pipeline</a:t>
            </a:r>
          </a:p>
        </p:txBody>
      </p:sp>
      <p:sp>
        <p:nvSpPr>
          <p:cNvPr id="7" name="Rectangle 6"/>
          <p:cNvSpPr/>
          <p:nvPr/>
        </p:nvSpPr>
        <p:spPr>
          <a:xfrm>
            <a:off x="4718304" y="1684781"/>
            <a:ext cx="7114032" cy="3945636"/>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ytest.png"/>
          <p:cNvPicPr>
            <a:picLocks noChangeAspect="1"/>
          </p:cNvPicPr>
          <p:nvPr/>
        </p:nvPicPr>
        <p:blipFill>
          <a:blip r:embed="rId3"/>
          <a:stretch>
            <a:fillRect/>
          </a:stretch>
        </p:blipFill>
        <p:spPr>
          <a:xfrm>
            <a:off x="4754880" y="1721357"/>
            <a:ext cx="7040880" cy="387248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Git and GitHub</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6</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Small commits, one change each</a:t>
            </a:r>
          </a:p>
          <a:p>
            <a:pPr>
              <a:spcAft>
                <a:spcPts val="1000"/>
              </a:spcAft>
            </a:pPr>
            <a:r>
              <a:rPr sz="1400">
                <a:solidFill>
                  <a:srgbClr val="FF5A1F"/>
                </a:solidFill>
                <a:latin typeface="Arial"/>
              </a:rPr>
              <a:t>■  </a:t>
            </a:r>
            <a:r>
              <a:rPr sz="2200">
                <a:solidFill>
                  <a:srgbClr val="16181D"/>
                </a:solidFill>
                <a:latin typeface="Arial"/>
              </a:rPr>
              <a:t>Plain messages</a:t>
            </a:r>
          </a:p>
          <a:p>
            <a:pPr>
              <a:spcAft>
                <a:spcPts val="1000"/>
              </a:spcAft>
            </a:pPr>
            <a:r>
              <a:rPr sz="1400">
                <a:solidFill>
                  <a:srgbClr val="FF5A1F"/>
                </a:solidFill>
                <a:latin typeface="Arial"/>
              </a:rPr>
              <a:t>■  </a:t>
            </a:r>
            <a:r>
              <a:rPr sz="2200">
                <a:solidFill>
                  <a:srgbClr val="16181D"/>
                </a:solidFill>
                <a:latin typeface="Arial"/>
              </a:rPr>
              <a:t>.gitignore: .env, state, node_modules</a:t>
            </a:r>
          </a:p>
          <a:p>
            <a:pPr>
              <a:spcAft>
                <a:spcPts val="1000"/>
              </a:spcAft>
            </a:pPr>
            <a:r>
              <a:rPr sz="1400">
                <a:solidFill>
                  <a:srgbClr val="FF5A1F"/>
                </a:solidFill>
                <a:latin typeface="Arial"/>
              </a:rPr>
              <a:t>■  </a:t>
            </a:r>
            <a:r>
              <a:rPr sz="2200">
                <a:solidFill>
                  <a:srgbClr val="16181D"/>
                </a:solidFill>
                <a:latin typeface="Arial"/>
              </a:rPr>
              <a:t>No secrets in history</a:t>
            </a:r>
          </a:p>
        </p:txBody>
      </p:sp>
      <p:sp>
        <p:nvSpPr>
          <p:cNvPr id="7" name="Rectangle 6"/>
          <p:cNvSpPr/>
          <p:nvPr/>
        </p:nvSpPr>
        <p:spPr>
          <a:xfrm>
            <a:off x="4718304" y="1948814"/>
            <a:ext cx="7114032" cy="3417570"/>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git.png"/>
          <p:cNvPicPr>
            <a:picLocks noChangeAspect="1"/>
          </p:cNvPicPr>
          <p:nvPr/>
        </p:nvPicPr>
        <p:blipFill>
          <a:blip r:embed="rId3"/>
          <a:stretch>
            <a:fillRect/>
          </a:stretch>
        </p:blipFill>
        <p:spPr>
          <a:xfrm>
            <a:off x="4754880" y="1985390"/>
            <a:ext cx="7040880" cy="334441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CI/CD pipeline</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7</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Rounded Rectangle 5"/>
          <p:cNvSpPr/>
          <p:nvPr/>
        </p:nvSpPr>
        <p:spPr>
          <a:xfrm>
            <a:off x="548640" y="1371600"/>
            <a:ext cx="15544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81D"/>
                </a:solidFill>
                <a:latin typeface="Arial"/>
              </a:rPr>
              <a:t>pytest</a:t>
            </a:r>
          </a:p>
        </p:txBody>
      </p:sp>
      <p:sp>
        <p:nvSpPr>
          <p:cNvPr id="7" name="Right Arrow 6"/>
          <p:cNvSpPr/>
          <p:nvPr/>
        </p:nvSpPr>
        <p:spPr>
          <a:xfrm>
            <a:off x="2121408" y="1627632"/>
            <a:ext cx="347472" cy="292608"/>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68880" y="1371600"/>
            <a:ext cx="15544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81D"/>
                </a:solidFill>
                <a:latin typeface="Arial"/>
              </a:rPr>
              <a:t>Build frontend</a:t>
            </a:r>
          </a:p>
        </p:txBody>
      </p:sp>
      <p:sp>
        <p:nvSpPr>
          <p:cNvPr id="9" name="Right Arrow 8"/>
          <p:cNvSpPr/>
          <p:nvPr/>
        </p:nvSpPr>
        <p:spPr>
          <a:xfrm>
            <a:off x="4041648" y="1627632"/>
            <a:ext cx="347472" cy="292608"/>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0" y="1371600"/>
            <a:ext cx="15544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81D"/>
                </a:solidFill>
                <a:latin typeface="Arial"/>
              </a:rPr>
              <a:t>Build images</a:t>
            </a:r>
          </a:p>
        </p:txBody>
      </p:sp>
      <p:sp>
        <p:nvSpPr>
          <p:cNvPr id="11" name="Right Arrow 10"/>
          <p:cNvSpPr/>
          <p:nvPr/>
        </p:nvSpPr>
        <p:spPr>
          <a:xfrm>
            <a:off x="5961888" y="1627632"/>
            <a:ext cx="347472" cy="292608"/>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09360" y="1371600"/>
            <a:ext cx="1554480" cy="822960"/>
          </a:xfrm>
          <a:prstGeom prst="round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Arial"/>
              </a:rPr>
              <a:t>Trivy scan</a:t>
            </a:r>
          </a:p>
        </p:txBody>
      </p:sp>
      <p:sp>
        <p:nvSpPr>
          <p:cNvPr id="13" name="Right Arrow 12"/>
          <p:cNvSpPr/>
          <p:nvPr/>
        </p:nvSpPr>
        <p:spPr>
          <a:xfrm>
            <a:off x="7882128" y="1627632"/>
            <a:ext cx="347472" cy="292608"/>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0" y="1371600"/>
            <a:ext cx="15544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81D"/>
                </a:solidFill>
                <a:latin typeface="Arial"/>
              </a:rPr>
              <a:t>Push to GHCR</a:t>
            </a:r>
          </a:p>
        </p:txBody>
      </p:sp>
      <p:sp>
        <p:nvSpPr>
          <p:cNvPr id="15" name="Right Arrow 14"/>
          <p:cNvSpPr/>
          <p:nvPr/>
        </p:nvSpPr>
        <p:spPr>
          <a:xfrm>
            <a:off x="9802368" y="1627632"/>
            <a:ext cx="347472" cy="292608"/>
          </a:xfrm>
          <a:prstGeom prst="rightArrow">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149840" y="1371600"/>
            <a:ext cx="1554480" cy="822960"/>
          </a:xfrm>
          <a:prstGeom prst="roundRect">
            <a:avLst/>
          </a:prstGeom>
          <a:solidFill>
            <a:srgbClr val="F4F1EA"/>
          </a:solidFill>
          <a:ln w="15875">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6181D"/>
                </a:solidFill>
                <a:latin typeface="Arial"/>
              </a:rPr>
              <a:t>Helm deploy</a:t>
            </a:r>
          </a:p>
        </p:txBody>
      </p:sp>
      <p:sp>
        <p:nvSpPr>
          <p:cNvPr id="17" name="Rectangle 16"/>
          <p:cNvSpPr/>
          <p:nvPr/>
        </p:nvSpPr>
        <p:spPr>
          <a:xfrm>
            <a:off x="3199079" y="2432304"/>
            <a:ext cx="5763361" cy="3822191"/>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6-github-actions-green.png"/>
          <p:cNvPicPr>
            <a:picLocks noChangeAspect="1"/>
          </p:cNvPicPr>
          <p:nvPr/>
        </p:nvPicPr>
        <p:blipFill>
          <a:blip r:embed="rId3"/>
          <a:stretch>
            <a:fillRect/>
          </a:stretch>
        </p:blipFill>
        <p:spPr>
          <a:xfrm>
            <a:off x="3235655" y="2468880"/>
            <a:ext cx="5690209" cy="3749039"/>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Security scan with Trivy</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8</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HIGH and CRITICAL, fixable only</a:t>
            </a:r>
          </a:p>
          <a:p>
            <a:pPr>
              <a:spcAft>
                <a:spcPts val="1000"/>
              </a:spcAft>
            </a:pPr>
            <a:r>
              <a:rPr sz="1400">
                <a:solidFill>
                  <a:srgbClr val="FF5A1F"/>
                </a:solidFill>
                <a:latin typeface="Arial"/>
              </a:rPr>
              <a:t>■  </a:t>
            </a:r>
            <a:r>
              <a:rPr sz="2200">
                <a:solidFill>
                  <a:srgbClr val="16181D"/>
                </a:solidFill>
                <a:latin typeface="Arial"/>
              </a:rPr>
              <a:t>Fails the build</a:t>
            </a:r>
          </a:p>
          <a:p>
            <a:pPr>
              <a:spcAft>
                <a:spcPts val="1000"/>
              </a:spcAft>
            </a:pPr>
            <a:r>
              <a:rPr sz="1400">
                <a:solidFill>
                  <a:srgbClr val="FF5A1F"/>
                </a:solidFill>
                <a:latin typeface="Arial"/>
              </a:rPr>
              <a:t>■  </a:t>
            </a:r>
            <a:r>
              <a:rPr sz="2200">
                <a:solidFill>
                  <a:srgbClr val="16181D"/>
                </a:solidFill>
                <a:latin typeface="Arial"/>
              </a:rPr>
              <a:t>First runs failed: 7 and 41 findings</a:t>
            </a:r>
          </a:p>
          <a:p>
            <a:pPr>
              <a:spcAft>
                <a:spcPts val="1000"/>
              </a:spcAft>
            </a:pPr>
            <a:r>
              <a:rPr sz="1400">
                <a:solidFill>
                  <a:srgbClr val="FF5A1F"/>
                </a:solidFill>
                <a:latin typeface="Arial"/>
              </a:rPr>
              <a:t>■  </a:t>
            </a:r>
            <a:r>
              <a:rPr sz="2200">
                <a:solidFill>
                  <a:srgbClr val="16181D"/>
                </a:solidFill>
                <a:latin typeface="Arial"/>
              </a:rPr>
              <a:t>Fixed, now clean</a:t>
            </a:r>
          </a:p>
        </p:txBody>
      </p:sp>
      <p:sp>
        <p:nvSpPr>
          <p:cNvPr id="7" name="Rectangle 6"/>
          <p:cNvSpPr/>
          <p:nvPr/>
        </p:nvSpPr>
        <p:spPr>
          <a:xfrm>
            <a:off x="4718304" y="2061198"/>
            <a:ext cx="7114032" cy="3192803"/>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trivy-scan.png"/>
          <p:cNvPicPr>
            <a:picLocks noChangeAspect="1"/>
          </p:cNvPicPr>
          <p:nvPr/>
        </p:nvPicPr>
        <p:blipFill>
          <a:blip r:embed="rId3"/>
          <a:stretch>
            <a:fillRect/>
          </a:stretch>
        </p:blipFill>
        <p:spPr>
          <a:xfrm>
            <a:off x="4754880" y="2097774"/>
            <a:ext cx="7040880" cy="3119651"/>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Terraform and AWS</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9</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20624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VPC: 2 public + 2 private subnets</a:t>
            </a:r>
          </a:p>
          <a:p>
            <a:pPr>
              <a:spcAft>
                <a:spcPts val="1000"/>
              </a:spcAft>
            </a:pPr>
            <a:r>
              <a:rPr sz="1400">
                <a:solidFill>
                  <a:srgbClr val="FF5A1F"/>
                </a:solidFill>
                <a:latin typeface="Arial"/>
              </a:rPr>
              <a:t>■  </a:t>
            </a:r>
            <a:r>
              <a:rPr sz="2200">
                <a:solidFill>
                  <a:srgbClr val="16181D"/>
                </a:solidFill>
                <a:latin typeface="Arial"/>
              </a:rPr>
              <a:t>One NAT gateway</a:t>
            </a:r>
          </a:p>
          <a:p>
            <a:pPr>
              <a:spcAft>
                <a:spcPts val="1000"/>
              </a:spcAft>
            </a:pPr>
            <a:r>
              <a:rPr sz="1400">
                <a:solidFill>
                  <a:srgbClr val="FF5A1F"/>
                </a:solidFill>
                <a:latin typeface="Arial"/>
              </a:rPr>
              <a:t>■  </a:t>
            </a:r>
            <a:r>
              <a:rPr sz="2200">
                <a:solidFill>
                  <a:srgbClr val="16181D"/>
                </a:solidFill>
                <a:latin typeface="Arial"/>
              </a:rPr>
              <a:t>EKS with managed nodes, ap-south-1</a:t>
            </a:r>
          </a:p>
          <a:p>
            <a:pPr>
              <a:spcAft>
                <a:spcPts val="1000"/>
              </a:spcAft>
            </a:pPr>
            <a:r>
              <a:rPr sz="1400">
                <a:solidFill>
                  <a:srgbClr val="FF5A1F"/>
                </a:solidFill>
                <a:latin typeface="Arial"/>
              </a:rPr>
              <a:t>■  </a:t>
            </a:r>
            <a:r>
              <a:rPr sz="2200">
                <a:solidFill>
                  <a:srgbClr val="16181D"/>
                </a:solidFill>
                <a:latin typeface="Arial"/>
              </a:rPr>
              <a:t>GitHub OIDC role, no AWS keys</a:t>
            </a:r>
          </a:p>
        </p:txBody>
      </p:sp>
      <p:sp>
        <p:nvSpPr>
          <p:cNvPr id="7" name="Rectangle 6"/>
          <p:cNvSpPr/>
          <p:nvPr/>
        </p:nvSpPr>
        <p:spPr>
          <a:xfrm>
            <a:off x="4901184" y="1675066"/>
            <a:ext cx="6931152" cy="3965066"/>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ks.png"/>
          <p:cNvPicPr>
            <a:picLocks noChangeAspect="1"/>
          </p:cNvPicPr>
          <p:nvPr/>
        </p:nvPicPr>
        <p:blipFill>
          <a:blip r:embed="rId3"/>
          <a:stretch>
            <a:fillRect/>
          </a:stretch>
        </p:blipFill>
        <p:spPr>
          <a:xfrm>
            <a:off x="4937760" y="1711642"/>
            <a:ext cx="6858000" cy="389191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Kubernetes and Helm</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10</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One Helm chart, prod and dev values</a:t>
            </a:r>
          </a:p>
          <a:p>
            <a:pPr>
              <a:spcAft>
                <a:spcPts val="1000"/>
              </a:spcAft>
            </a:pPr>
            <a:r>
              <a:rPr sz="1400">
                <a:solidFill>
                  <a:srgbClr val="FF5A1F"/>
                </a:solidFill>
                <a:latin typeface="Arial"/>
              </a:rPr>
              <a:t>■  </a:t>
            </a:r>
            <a:r>
              <a:rPr sz="2200">
                <a:solidFill>
                  <a:srgbClr val="16181D"/>
                </a:solidFill>
                <a:latin typeface="Arial"/>
              </a:rPr>
              <a:t>2 replicas each, ClusterIP services</a:t>
            </a:r>
          </a:p>
          <a:p>
            <a:pPr>
              <a:spcAft>
                <a:spcPts val="1000"/>
              </a:spcAft>
            </a:pPr>
            <a:r>
              <a:rPr sz="1400">
                <a:solidFill>
                  <a:srgbClr val="FF5A1F"/>
                </a:solidFill>
                <a:latin typeface="Arial"/>
              </a:rPr>
              <a:t>■  </a:t>
            </a:r>
            <a:r>
              <a:rPr sz="2200">
                <a:solidFill>
                  <a:srgbClr val="16181D"/>
                </a:solidFill>
                <a:latin typeface="Arial"/>
              </a:rPr>
              <a:t>Probes: /health and /ready</a:t>
            </a:r>
          </a:p>
          <a:p>
            <a:pPr>
              <a:spcAft>
                <a:spcPts val="1000"/>
              </a:spcAft>
            </a:pPr>
            <a:r>
              <a:rPr sz="1400">
                <a:solidFill>
                  <a:srgbClr val="FF5A1F"/>
                </a:solidFill>
                <a:latin typeface="Arial"/>
              </a:rPr>
              <a:t>■  </a:t>
            </a:r>
            <a:r>
              <a:rPr sz="2200">
                <a:solidFill>
                  <a:srgbClr val="16181D"/>
                </a:solidFill>
                <a:latin typeface="Arial"/>
              </a:rPr>
              <a:t>Postgres with a PVC</a:t>
            </a:r>
          </a:p>
        </p:txBody>
      </p:sp>
      <p:sp>
        <p:nvSpPr>
          <p:cNvPr id="7" name="Rectangle 6"/>
          <p:cNvSpPr/>
          <p:nvPr/>
        </p:nvSpPr>
        <p:spPr>
          <a:xfrm>
            <a:off x="4718304" y="2056383"/>
            <a:ext cx="7114032" cy="3202432"/>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ods.png"/>
          <p:cNvPicPr>
            <a:picLocks noChangeAspect="1"/>
          </p:cNvPicPr>
          <p:nvPr/>
        </p:nvPicPr>
        <p:blipFill>
          <a:blip r:embed="rId3"/>
          <a:stretch>
            <a:fillRect/>
          </a:stretch>
        </p:blipFill>
        <p:spPr>
          <a:xfrm>
            <a:off x="4754880" y="2092959"/>
            <a:ext cx="7040880" cy="31292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Ingress and autoscaling</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11</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Rectangle 5"/>
          <p:cNvSpPr/>
          <p:nvPr/>
        </p:nvSpPr>
        <p:spPr>
          <a:xfrm>
            <a:off x="512063" y="1565063"/>
            <a:ext cx="5650992" cy="4185073"/>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17-ingress-app.png"/>
          <p:cNvPicPr>
            <a:picLocks noChangeAspect="1"/>
          </p:cNvPicPr>
          <p:nvPr/>
        </p:nvPicPr>
        <p:blipFill>
          <a:blip r:embed="rId3"/>
          <a:stretch>
            <a:fillRect/>
          </a:stretch>
        </p:blipFill>
        <p:spPr>
          <a:xfrm>
            <a:off x="548640" y="1601639"/>
            <a:ext cx="5577840" cy="4111921"/>
          </a:xfrm>
          <a:prstGeom prst="rect">
            <a:avLst/>
          </a:prstGeom>
        </p:spPr>
      </p:pic>
      <p:sp>
        <p:nvSpPr>
          <p:cNvPr id="8" name="Rectangle 7"/>
          <p:cNvSpPr/>
          <p:nvPr/>
        </p:nvSpPr>
        <p:spPr>
          <a:xfrm>
            <a:off x="6272784" y="2249424"/>
            <a:ext cx="5559552" cy="2816352"/>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hpa.png"/>
          <p:cNvPicPr>
            <a:picLocks noChangeAspect="1"/>
          </p:cNvPicPr>
          <p:nvPr/>
        </p:nvPicPr>
        <p:blipFill>
          <a:blip r:embed="rId4"/>
          <a:stretch>
            <a:fillRect/>
          </a:stretch>
        </p:blipFill>
        <p:spPr>
          <a:xfrm>
            <a:off x="6309360" y="2286000"/>
            <a:ext cx="5486400" cy="27432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Monitoring</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12</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Rectangle 5"/>
          <p:cNvSpPr/>
          <p:nvPr/>
        </p:nvSpPr>
        <p:spPr>
          <a:xfrm>
            <a:off x="512063" y="1365504"/>
            <a:ext cx="6839712" cy="4584192"/>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21-grafana-dashboard.png"/>
          <p:cNvPicPr>
            <a:picLocks noChangeAspect="1"/>
          </p:cNvPicPr>
          <p:nvPr/>
        </p:nvPicPr>
        <p:blipFill>
          <a:blip r:embed="rId3"/>
          <a:stretch>
            <a:fillRect/>
          </a:stretch>
        </p:blipFill>
        <p:spPr>
          <a:xfrm>
            <a:off x="548640" y="1402080"/>
            <a:ext cx="6766560" cy="4511040"/>
          </a:xfrm>
          <a:prstGeom prst="rect">
            <a:avLst/>
          </a:prstGeom>
        </p:spPr>
      </p:pic>
      <p:sp>
        <p:nvSpPr>
          <p:cNvPr id="8" name="Rectangle 7"/>
          <p:cNvSpPr/>
          <p:nvPr/>
        </p:nvSpPr>
        <p:spPr>
          <a:xfrm>
            <a:off x="7552944" y="1477740"/>
            <a:ext cx="4279392" cy="1982279"/>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prometheus-targets.png"/>
          <p:cNvPicPr>
            <a:picLocks noChangeAspect="1"/>
          </p:cNvPicPr>
          <p:nvPr/>
        </p:nvPicPr>
        <p:blipFill>
          <a:blip r:embed="rId4"/>
          <a:stretch>
            <a:fillRect/>
          </a:stretch>
        </p:blipFill>
        <p:spPr>
          <a:xfrm>
            <a:off x="7589520" y="1514316"/>
            <a:ext cx="4206240" cy="1909127"/>
          </a:xfrm>
          <a:prstGeom prst="rect">
            <a:avLst/>
          </a:prstGeom>
        </p:spPr>
      </p:pic>
      <p:sp>
        <p:nvSpPr>
          <p:cNvPr id="10" name="TextBox 9"/>
          <p:cNvSpPr txBox="1"/>
          <p:nvPr/>
        </p:nvSpPr>
        <p:spPr>
          <a:xfrm>
            <a:off x="7589520" y="3840480"/>
            <a:ext cx="4206240" cy="1828800"/>
          </a:xfrm>
          <a:prstGeom prst="rect">
            <a:avLst/>
          </a:prstGeom>
          <a:noFill/>
        </p:spPr>
        <p:txBody>
          <a:bodyPr wrap="square" anchor="t" lIns="45720" rIns="45720">
            <a:spAutoFit/>
          </a:bodyPr>
          <a:lstStyle/>
          <a:p>
            <a:pPr algn="l"/>
            <a:r>
              <a:rPr sz="1800" b="0">
                <a:solidFill>
                  <a:srgbClr val="4A4F5A"/>
                </a:solidFill>
                <a:latin typeface="Arial"/>
              </a:rPr>
              <a:t>Target ironpass-backend</a:t>
            </a:r>
          </a:p>
          <a:p>
            <a:pPr algn="l"/>
            <a:r>
              <a:rPr sz="1800" b="0">
                <a:solidFill>
                  <a:srgbClr val="4A4F5A"/>
                </a:solidFill>
                <a:latin typeface="Arial"/>
              </a:rPr>
              <a:t>4 of 4 UP</a:t>
            </a:r>
          </a:p>
          <a:p>
            <a:pPr algn="l"/>
            <a:r>
              <a:rPr sz="1800" b="0">
                <a:solidFill>
                  <a:srgbClr val="4A4F5A"/>
                </a:solidFill>
                <a:latin typeface="Arial"/>
              </a:rPr>
              <a:t>Dashboard is provisioned from a ConfigMap</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Troubleshooting lab</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13</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280160"/>
            <a:ext cx="4023360" cy="4572000"/>
          </a:xfrm>
          <a:prstGeom prst="rect">
            <a:avLst/>
          </a:prstGeom>
          <a:noFill/>
        </p:spPr>
        <p:txBody>
          <a:bodyPr wrap="square">
            <a:spAutoFit/>
          </a:bodyPr>
          <a:lstStyle/>
          <a:p>
            <a:pPr>
              <a:spcAft>
                <a:spcPts val="1000"/>
              </a:spcAft>
            </a:pPr>
            <a:r>
              <a:rPr sz="1400">
                <a:solidFill>
                  <a:srgbClr val="FF5A1F"/>
                </a:solidFill>
                <a:latin typeface="Arial"/>
              </a:rPr>
              <a:t>■  </a:t>
            </a:r>
            <a:r>
              <a:rPr sz="2200">
                <a:solidFill>
                  <a:srgbClr val="16181D"/>
                </a:solidFill>
                <a:latin typeface="Arial"/>
              </a:rPr>
              <a:t>Broken image: ImagePullBackOff</a:t>
            </a:r>
          </a:p>
          <a:p>
            <a:pPr>
              <a:spcAft>
                <a:spcPts val="1000"/>
              </a:spcAft>
            </a:pPr>
            <a:r>
              <a:rPr sz="1400">
                <a:solidFill>
                  <a:srgbClr val="FF5A1F"/>
                </a:solidFill>
                <a:latin typeface="Arial"/>
              </a:rPr>
              <a:t>■  </a:t>
            </a:r>
            <a:r>
              <a:rPr sz="2200">
                <a:solidFill>
                  <a:srgbClr val="16181D"/>
                </a:solidFill>
                <a:latin typeface="Arial"/>
              </a:rPr>
              <a:t>Broken service: no endpoints</a:t>
            </a:r>
          </a:p>
          <a:p>
            <a:pPr>
              <a:spcAft>
                <a:spcPts val="1000"/>
              </a:spcAft>
            </a:pPr>
            <a:r>
              <a:rPr sz="1400">
                <a:solidFill>
                  <a:srgbClr val="FF5A1F"/>
                </a:solidFill>
                <a:latin typeface="Arial"/>
              </a:rPr>
              <a:t>■  </a:t>
            </a:r>
            <a:r>
              <a:rPr sz="2200">
                <a:solidFill>
                  <a:srgbClr val="16181D"/>
                </a:solidFill>
                <a:latin typeface="Arial"/>
              </a:rPr>
              <a:t>Tools: describe, events, endpoints</a:t>
            </a:r>
          </a:p>
          <a:p>
            <a:pPr>
              <a:spcAft>
                <a:spcPts val="1000"/>
              </a:spcAft>
            </a:pPr>
            <a:r>
              <a:rPr sz="1400">
                <a:solidFill>
                  <a:srgbClr val="FF5A1F"/>
                </a:solidFill>
                <a:latin typeface="Arial"/>
              </a:rPr>
              <a:t>■  </a:t>
            </a:r>
            <a:r>
              <a:rPr sz="2200">
                <a:solidFill>
                  <a:srgbClr val="16181D"/>
                </a:solidFill>
                <a:latin typeface="Arial"/>
              </a:rPr>
              <a:t>Fix notes in troubleshooting/</a:t>
            </a:r>
          </a:p>
        </p:txBody>
      </p:sp>
      <p:sp>
        <p:nvSpPr>
          <p:cNvPr id="7" name="Rectangle 6"/>
          <p:cNvSpPr/>
          <p:nvPr/>
        </p:nvSpPr>
        <p:spPr>
          <a:xfrm>
            <a:off x="4718304" y="1582369"/>
            <a:ext cx="7114032" cy="4150461"/>
          </a:xfrm>
          <a:prstGeom prst="rect">
            <a:avLst/>
          </a:prstGeom>
          <a:solidFill>
            <a:srgbClr val="FFFFFF"/>
          </a:solidFill>
          <a:ln>
            <a:solidFill>
              <a:srgbClr val="D9D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rouble.png"/>
          <p:cNvPicPr>
            <a:picLocks noChangeAspect="1"/>
          </p:cNvPicPr>
          <p:nvPr/>
        </p:nvPicPr>
        <p:blipFill>
          <a:blip r:embed="rId3"/>
          <a:stretch>
            <a:fillRect/>
          </a:stretch>
        </p:blipFill>
        <p:spPr>
          <a:xfrm>
            <a:off x="4754880" y="1618945"/>
            <a:ext cx="7040880" cy="407730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FF5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822960"/>
          </a:xfrm>
          <a:prstGeom prst="rect">
            <a:avLst/>
          </a:prstGeom>
          <a:noFill/>
        </p:spPr>
        <p:txBody>
          <a:bodyPr wrap="square" anchor="t" lIns="45720" rIns="45720">
            <a:spAutoFit/>
          </a:bodyPr>
          <a:lstStyle/>
          <a:p>
            <a:pPr algn="l"/>
            <a:r>
              <a:rPr sz="3600" b="1">
                <a:solidFill>
                  <a:srgbClr val="16181D"/>
                </a:solidFill>
                <a:latin typeface="Arial"/>
              </a:rPr>
              <a:t>What I learned</a:t>
            </a:r>
          </a:p>
        </p:txBody>
      </p:sp>
      <p:sp>
        <p:nvSpPr>
          <p:cNvPr id="4" name="TextBox 3"/>
          <p:cNvSpPr txBox="1"/>
          <p:nvPr/>
        </p:nvSpPr>
        <p:spPr>
          <a:xfrm>
            <a:off x="11155680" y="6355080"/>
            <a:ext cx="822960" cy="365760"/>
          </a:xfrm>
          <a:prstGeom prst="rect">
            <a:avLst/>
          </a:prstGeom>
          <a:noFill/>
        </p:spPr>
        <p:txBody>
          <a:bodyPr wrap="square" anchor="t" lIns="45720" rIns="45720">
            <a:spAutoFit/>
          </a:bodyPr>
          <a:lstStyle/>
          <a:p>
            <a:pPr algn="r"/>
            <a:r>
              <a:rPr sz="1200" b="0">
                <a:solidFill>
                  <a:srgbClr val="4A4F5A"/>
                </a:solidFill>
                <a:latin typeface="Arial"/>
              </a:rPr>
              <a:t>14</a:t>
            </a:r>
          </a:p>
        </p:txBody>
      </p:sp>
      <p:sp>
        <p:nvSpPr>
          <p:cNvPr id="5" name="TextBox 4"/>
          <p:cNvSpPr txBox="1"/>
          <p:nvPr/>
        </p:nvSpPr>
        <p:spPr>
          <a:xfrm>
            <a:off x="548640" y="6355080"/>
            <a:ext cx="5486400" cy="365760"/>
          </a:xfrm>
          <a:prstGeom prst="rect">
            <a:avLst/>
          </a:prstGeom>
          <a:noFill/>
        </p:spPr>
        <p:txBody>
          <a:bodyPr wrap="square" anchor="t" lIns="45720" rIns="45720">
            <a:spAutoFit/>
          </a:bodyPr>
          <a:lstStyle/>
          <a:p>
            <a:pPr algn="l"/>
            <a:r>
              <a:rPr sz="1200" b="0">
                <a:solidFill>
                  <a:srgbClr val="4A4F5A"/>
                </a:solidFill>
                <a:latin typeface="Arial"/>
              </a:rPr>
              <a:t>IronPass  |  DevOps capstone</a:t>
            </a:r>
          </a:p>
        </p:txBody>
      </p:sp>
      <p:sp>
        <p:nvSpPr>
          <p:cNvPr id="6" name="TextBox 5"/>
          <p:cNvSpPr txBox="1"/>
          <p:nvPr/>
        </p:nvSpPr>
        <p:spPr>
          <a:xfrm>
            <a:off x="548640" y="1371600"/>
            <a:ext cx="10972800" cy="4572000"/>
          </a:xfrm>
          <a:prstGeom prst="rect">
            <a:avLst/>
          </a:prstGeom>
          <a:noFill/>
        </p:spPr>
        <p:txBody>
          <a:bodyPr wrap="square">
            <a:spAutoFit/>
          </a:bodyPr>
          <a:lstStyle/>
          <a:p>
            <a:pPr>
              <a:spcAft>
                <a:spcPts val="1600"/>
              </a:spcAft>
            </a:pPr>
            <a:r>
              <a:rPr sz="1800">
                <a:solidFill>
                  <a:srgbClr val="FF5A1F"/>
                </a:solidFill>
                <a:latin typeface="Arial"/>
              </a:rPr>
              <a:t>■  </a:t>
            </a:r>
            <a:r>
              <a:rPr sz="2600">
                <a:solidFill>
                  <a:srgbClr val="16181D"/>
                </a:solidFill>
                <a:latin typeface="Arial"/>
              </a:rPr>
              <a:t>Every tool has one job, the pipeline joins them</a:t>
            </a:r>
          </a:p>
          <a:p>
            <a:pPr>
              <a:spcAft>
                <a:spcPts val="1600"/>
              </a:spcAft>
            </a:pPr>
            <a:r>
              <a:rPr sz="1800">
                <a:solidFill>
                  <a:srgbClr val="FF5A1F"/>
                </a:solidFill>
                <a:latin typeface="Arial"/>
              </a:rPr>
              <a:t>■  </a:t>
            </a:r>
            <a:r>
              <a:rPr sz="2600">
                <a:solidFill>
                  <a:srgbClr val="16181D"/>
                </a:solidFill>
                <a:latin typeface="Arial"/>
              </a:rPr>
              <a:t>A failing scan is useful, it made me fix real issues</a:t>
            </a:r>
          </a:p>
          <a:p>
            <a:pPr>
              <a:spcAft>
                <a:spcPts val="1600"/>
              </a:spcAft>
            </a:pPr>
            <a:r>
              <a:rPr sz="1800">
                <a:solidFill>
                  <a:srgbClr val="FF5A1F"/>
                </a:solidFill>
                <a:latin typeface="Arial"/>
              </a:rPr>
              <a:t>■  </a:t>
            </a:r>
            <a:r>
              <a:rPr sz="2600">
                <a:solidFill>
                  <a:srgbClr val="16181D"/>
                </a:solidFill>
                <a:latin typeface="Arial"/>
              </a:rPr>
              <a:t>Infrastructure as code makes the cluster repeatable</a:t>
            </a:r>
          </a:p>
          <a:p>
            <a:pPr>
              <a:spcAft>
                <a:spcPts val="1600"/>
              </a:spcAft>
            </a:pPr>
            <a:r>
              <a:rPr sz="1800">
                <a:solidFill>
                  <a:srgbClr val="FF5A1F"/>
                </a:solidFill>
                <a:latin typeface="Arial"/>
              </a:rPr>
              <a:t>■  </a:t>
            </a:r>
            <a:r>
              <a:rPr sz="2600">
                <a:solidFill>
                  <a:srgbClr val="16181D"/>
                </a:solidFill>
                <a:latin typeface="Arial"/>
              </a:rPr>
              <a:t>Probes, requests and metrics make an app operable</a:t>
            </a:r>
          </a:p>
          <a:p>
            <a:pPr>
              <a:spcAft>
                <a:spcPts val="1600"/>
              </a:spcAft>
            </a:pPr>
            <a:r>
              <a:rPr sz="1800">
                <a:solidFill>
                  <a:srgbClr val="FF5A1F"/>
                </a:solidFill>
                <a:latin typeface="Arial"/>
              </a:rPr>
              <a:t>■  </a:t>
            </a:r>
            <a:r>
              <a:rPr sz="2600">
                <a:solidFill>
                  <a:srgbClr val="16181D"/>
                </a:solidFill>
                <a:latin typeface="Arial"/>
              </a:rPr>
              <a:t>Cost matters: tag everything and tear down in order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